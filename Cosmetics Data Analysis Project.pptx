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4"/>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Times New Roman Bold" charset="1" panose="02020803070505020304"/>
      <p:regular r:id="rId20"/>
    </p:embeddedFont>
    <p:embeddedFont>
      <p:font typeface="Times New Roman" charset="1" panose="02020603050405020304"/>
      <p:regular r:id="rId21"/>
    </p:embeddedFont>
    <p:embeddedFont>
      <p:font typeface="Poppins" charset="1" panose="00000500000000000000"/>
      <p:regular r:id="rId22"/>
    </p:embeddedFont>
    <p:embeddedFont>
      <p:font typeface="Inter Extra-Light" charset="1" panose="02000503000000020004"/>
      <p:regular r:id="rId23"/>
    </p:embeddedFont>
    <p:embeddedFont>
      <p:font typeface="Poppins Bold" charset="1" panose="00000800000000000000"/>
      <p:regular r:id="rId27"/>
    </p:embeddedFont>
    <p:embeddedFont>
      <p:font typeface="Poppins Bold Italics" charset="1" panose="00000800000000000000"/>
      <p:regular r:id="rId28"/>
    </p:embeddedFont>
    <p:embeddedFont>
      <p:font typeface="Poppins Italics" charset="1" panose="00000500000000000000"/>
      <p:regular r:id="rId29"/>
    </p:embeddedFont>
    <p:embeddedFont>
      <p:font typeface="Poppins Medium" charset="1" panose="00000600000000000000"/>
      <p:regular r:id="rId31"/>
    </p:embeddedFont>
    <p:embeddedFont>
      <p:font typeface="Canva Sans" charset="1" panose="020B0503030501040103"/>
      <p:regular r:id="rId3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notesMasters/notesMaster1.xml" Type="http://schemas.openxmlformats.org/officeDocument/2006/relationships/notesMaster"/><Relationship Id="rId25" Target="theme/theme2.xml" Type="http://schemas.openxmlformats.org/officeDocument/2006/relationships/theme"/><Relationship Id="rId26" Target="notesSlides/notesSlide1.xml" Type="http://schemas.openxmlformats.org/officeDocument/2006/relationships/notesSlide"/><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notesSlides/notesSlide2.xml" Type="http://schemas.openxmlformats.org/officeDocument/2006/relationships/notesSlide"/><Relationship Id="rId31" Target="fonts/font31.fntdata" Type="http://schemas.openxmlformats.org/officeDocument/2006/relationships/font"/><Relationship Id="rId32" Target="notesSlides/notesSlide3.xml" Type="http://schemas.openxmlformats.org/officeDocument/2006/relationships/notesSlide"/><Relationship Id="rId33" Target="notesSlides/notesSlide4.xml" Type="http://schemas.openxmlformats.org/officeDocument/2006/relationships/notesSlide"/><Relationship Id="rId34" Target="notesSlides/notesSlide5.xml" Type="http://schemas.openxmlformats.org/officeDocument/2006/relationships/notesSlide"/><Relationship Id="rId35" Target="notesSlides/notesSlide6.xml" Type="http://schemas.openxmlformats.org/officeDocument/2006/relationships/notesSlide"/><Relationship Id="rId36" Target="notesSlides/notesSlide7.xml" Type="http://schemas.openxmlformats.org/officeDocument/2006/relationships/notesSlide"/><Relationship Id="rId37" Target="notesSlides/notesSlide8.xml" Type="http://schemas.openxmlformats.org/officeDocument/2006/relationships/notesSlide"/><Relationship Id="rId38" Target="notesSlides/notesSlide9.xml" Type="http://schemas.openxmlformats.org/officeDocument/2006/relationships/notesSlide"/><Relationship Id="rId39" Target="fonts/font39.fntdata" Type="http://schemas.openxmlformats.org/officeDocument/2006/relationships/font"/><Relationship Id="rId4" Target="theme/theme1.xml" Type="http://schemas.openxmlformats.org/officeDocument/2006/relationships/theme"/><Relationship Id="rId40" Target="notesSlides/notesSlide10.xml" Type="http://schemas.openxmlformats.org/officeDocument/2006/relationships/notesSlide"/><Relationship Id="rId41" Target="notesSlides/notesSlide11.xml" Type="http://schemas.openxmlformats.org/officeDocument/2006/relationships/notesSlide"/><Relationship Id="rId42" Target="notesSlides/notesSlide12.xml" Type="http://schemas.openxmlformats.org/officeDocument/2006/relationships/notesSlid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When entering Sephora, a pharmacy, or any place where you can buy cosmetics, it is natural to ask whether higher prices guarantee superior quality.</a:t>
            </a:r>
          </a:p>
          <a:p>
            <a:r>
              <a:rPr lang="en-US"/>
              <a:t/>
            </a:r>
          </a:p>
          <a:p>
            <a:r>
              <a:rPr lang="en-US"/>
              <a:t>is the $50 DIOR lipstick really better than the $5 CVS version?</a:t>
            </a:r>
          </a:p>
          <a:p>
            <a:r>
              <a:rPr lang="en-US"/>
              <a:t/>
            </a:r>
          </a:p>
          <a:p>
            <a:r>
              <a:rPr lang="en-US"/>
              <a:t>- Introduce audience:</a:t>
            </a:r>
          </a:p>
          <a:p>
            <a:r>
              <a:rPr lang="en-US"/>
              <a:t>This project is directed at consumers navigating marketing fluff and brand managers seeking market positioning</a:t>
            </a:r>
          </a:p>
          <a:p>
            <a:r>
              <a:rPr lang="en-US"/>
              <a:t/>
            </a:r>
          </a:p>
          <a:p>
            <a:r>
              <a:rPr lang="en-US"/>
              <a:t>-So, we investigated whether price premiums reflect actual satisfaction or are simply a byproduct of aggressive marketing.</a:t>
            </a:r>
          </a:p>
          <a:p>
            <a:r>
              <a:rPr lang="en-US"/>
              <a:t/>
            </a:r>
          </a:p>
          <a:p>
            <a:r>
              <a:rPr lang="en-US"/>
              <a:t>For this,</a:t>
            </a:r>
          </a:p>
          <a:p>
            <a:r>
              <a:rPr lang="en-US"/>
              <a:t>- We used makeup API to analyzed 931 products from 50+ brands.</a:t>
            </a:r>
          </a:p>
          <a:p>
            <a:r>
              <a:rPr lang="en-US"/>
              <a:t/>
            </a:r>
          </a:p>
          <a:p>
            <a:r>
              <a:rPr lang="en-US"/>
              <a:t>As an integrity Check, we  accounted for the fact that while 63% lack ratings, price data is 95% complete, which allows us to analyze price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 believe that green/sustainability related terms will receive higher ratings and potentially have higher prices, due to increasing demand of sustainable cosmetics</a:t>
            </a:r>
          </a:p>
          <a:p>
            <a:r>
              <a:rPr lang="en-US"/>
              <a:t/>
            </a:r>
          </a:p>
          <a:p>
            <a:r>
              <a:rPr lang="en-US"/>
              <a:t>The higher the price the higher the quality</a:t>
            </a:r>
          </a:p>
          <a:p>
            <a:r>
              <a:rPr lang="en-US"/>
              <a:t/>
            </a:r>
          </a:p>
          <a:p>
            <a:r>
              <a:rPr lang="en-US"/>
              <a:t>A more elaborate description would characterize luxurious products</a:t>
            </a:r>
          </a:p>
          <a:p>
            <a:r>
              <a:rPr lang="en-US"/>
              <a:t/>
            </a:r>
          </a:p>
          <a:p>
            <a:r>
              <a:rPr lang="en-US"/>
              <a:t>Are green claims a marker of luxury?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Look at the median rating line, it overlaps for all price tiers!</a:t>
            </a:r>
          </a:p>
          <a:p>
            <a:r>
              <a:rPr lang="en-US"/>
              <a:t/>
            </a:r>
          </a:p>
          <a:p>
            <a:r>
              <a:rPr lang="en-US"/>
              <a:t>Whether a consumer spends $10 or $60, their satisfaction remains statistically identical. </a:t>
            </a:r>
          </a:p>
          <a:p>
            <a:r>
              <a:rPr lang="en-US"/>
              <a:t/>
            </a:r>
          </a:p>
          <a:p>
            <a:r>
              <a:rPr lang="en-US"/>
              <a:t>This proves that high-quality formulas are fully accessible at budget price points.</a:t>
            </a:r>
          </a:p>
          <a:p>
            <a:r>
              <a:rPr lang="en-US"/>
              <a:t/>
            </a:r>
          </a:p>
          <a:p>
            <a:r>
              <a:rPr lang="en-US"/>
              <a:t>*Note: On our correlation findings,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Inconsistent Premium: Not a universal price premium on green products.</a:t>
            </a:r>
          </a:p>
          <a:p>
            <a:r>
              <a:rPr lang="en-US"/>
              <a:t/>
            </a:r>
          </a:p>
          <a:p>
            <a:r>
              <a:rPr lang="en-US"/>
              <a:t>Price-drop: in several key categories, "green" products are actually more affordable on average than traditional ones</a:t>
            </a:r>
          </a:p>
          <a:p>
            <a:r>
              <a:rPr lang="en-US"/>
              <a:t/>
            </a:r>
          </a:p>
          <a:p>
            <a:r>
              <a:rPr lang="en-US"/>
              <a:t>The lack of a consistent premium indicates that "Clean Beauty" is no longer a luxury differentiator, but a mass-market reality.</a:t>
            </a:r>
          </a:p>
          <a:p>
            <a:r>
              <a:rPr lang="en-US"/>
              <a:t/>
            </a:r>
          </a:p>
          <a:p>
            <a:r>
              <a:rPr lang="en-US"/>
              <a:t>One the following SLIDE -&gt;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 also observe that, for different product types, there is not a clear Green Premium. In fact, in many cases, Green products retail for cheaper (on average)</a:t>
            </a:r>
          </a:p>
          <a:p>
            <a:r>
              <a:rPr lang="en-US"/>
              <a:t/>
            </a:r>
          </a:p>
          <a:p>
            <a:r>
              <a:rPr lang="en-US"/>
              <a:t>We found this to be additional evidence that green products are not rewarded any more than traditional products.</a:t>
            </a:r>
          </a:p>
          <a:p>
            <a:r>
              <a:rPr lang="en-US"/>
              <a:t/>
            </a:r>
          </a:p>
          <a:p>
            <a:r>
              <a:rPr lang="en-US"/>
              <a:t>So, the green-product  premium is a myth</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An additional insight from our Green Marketing exploration is the specific brands' portfolio of green products:</a:t>
            </a:r>
          </a:p>
          <a:p>
            <a:r>
              <a:rPr lang="en-US"/>
              <a:t/>
            </a:r>
          </a:p>
          <a:p>
            <a:r>
              <a:rPr lang="en-US"/>
              <a:t>We observe that there are brands that have 100% green-branded products and they are fully viable.</a:t>
            </a:r>
          </a:p>
          <a:p>
            <a:r>
              <a:rPr lang="en-US"/>
              <a:t/>
            </a:r>
          </a:p>
          <a:p>
            <a:r>
              <a:rPr lang="en-US"/>
              <a:t>So, this leads us to wonder if it is brand positioning and specialization that allow the brands with no green claims to stay in the market so comfortably.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 addition to green marketing,  we expected longer, elaborate descriptions to justify higher prices. </a:t>
            </a:r>
          </a:p>
          <a:p>
            <a:r>
              <a:rPr lang="en-US"/>
              <a:t/>
            </a:r>
          </a:p>
          <a:p>
            <a:r>
              <a:rPr lang="en-US"/>
              <a:t>Instead, we found a paradox: true luxury brands often use the least amount of marketing copy. </a:t>
            </a:r>
          </a:p>
          <a:p>
            <a:r>
              <a:rPr lang="en-US"/>
              <a:t/>
            </a:r>
          </a:p>
          <a:p>
            <a:r>
              <a:rPr lang="en-US"/>
              <a:t>As seen on the graph, those descriptions with less than 100 characters have the highest average prices.</a:t>
            </a:r>
          </a:p>
          <a:p>
            <a:r>
              <a:rPr lang="en-US"/>
              <a:t/>
            </a:r>
          </a:p>
          <a:p>
            <a:r>
              <a:rPr lang="en-US"/>
              <a:t>So, luxury brands likely rely on brand prestige, leaving the 'romancing' (lengthy descriptions) to mid-market brands trying to justify their costs. (Which we tested in our price-predicting model)</a:t>
            </a:r>
          </a:p>
          <a:p>
            <a:r>
              <a:rPr lang="en-US"/>
              <a:t/>
            </a:r>
          </a:p>
          <a:p>
            <a:r>
              <a:rPr lang="en-US"/>
              <a:t>Again, Luxury relies on Brand Confidence, so it seems that it is the mid market has to justify their product through verbose descriptions.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 with our 1st model, we wanted to put the price-quality myth to the test.</a:t>
            </a:r>
          </a:p>
          <a:p>
            <a:r>
              <a:rPr lang="en-US"/>
              <a:t/>
            </a:r>
          </a:p>
          <a:p>
            <a:r>
              <a:rPr lang="en-US"/>
              <a:t>The Model Achieves 0.70 RECALL Weighted ACCURACY, only 2% better than the PRECISION Weighted  ACCURACY.</a:t>
            </a:r>
          </a:p>
          <a:p>
            <a:r>
              <a:rPr lang="en-US"/>
              <a:t/>
            </a:r>
          </a:p>
          <a:p>
            <a:r>
              <a:rPr lang="en-US"/>
              <a:t>So, price and word count are weak signals of what consumers like, as we can predict only 2% better than taking a random guess.</a:t>
            </a:r>
          </a:p>
          <a:p>
            <a:r>
              <a:rPr lang="en-US"/>
              <a:t/>
            </a:r>
          </a:p>
          <a:p>
            <a:r>
              <a:rPr lang="en-US"/>
              <a:t>Then, consumer satisfaction is confirmed to be non-linear and multi-dimensional.</a:t>
            </a:r>
          </a:p>
          <a:p>
            <a:r>
              <a:rPr lang="en-US"/>
              <a:t/>
            </a:r>
          </a:p>
          <a:p>
            <a:r>
              <a:rPr lang="en-US"/>
              <a:t>Looking at the confusion matrix,</a:t>
            </a:r>
          </a:p>
          <a:p>
            <a:r>
              <a:rPr lang="en-US"/>
              <a:t>we observe that the high number of False Negatives (18) demonstrates that our </a:t>
            </a:r>
          </a:p>
          <a:p>
            <a:r>
              <a:rPr lang="en-US"/>
              <a:t/>
            </a:r>
          </a:p>
          <a:p>
            <a:r>
              <a:rPr lang="en-US"/>
              <a:t>Our chosen features are weak Predictors of product recommendation. </a:t>
            </a:r>
          </a:p>
          <a:p>
            <a:r>
              <a:rPr lang="en-US"/>
              <a:t/>
            </a:r>
          </a:p>
          <a:p>
            <a:r>
              <a:rPr lang="en-US"/>
              <a:t>If quality were truly linked to price, the model would have had far fewer False Negatives.</a:t>
            </a:r>
          </a:p>
          <a:p>
            <a:r>
              <a:rPr lang="en-US"/>
              <a:t/>
            </a:r>
          </a:p>
          <a:p>
            <a:r>
              <a:rPr lang="en-US"/>
              <a:t>This mismatch is the statistical proof that the beauty industry is driven by brand loyalty, things that data on marketing simply cannot capture.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On model 2 we prioritized rating, description length, and product type as predictors of price. This resulted in a low adjusted R2, telling us that product quality is a terrible predictor of price.</a:t>
            </a:r>
          </a:p>
          <a:p>
            <a:r>
              <a:rPr lang="en-US"/>
              <a:t/>
            </a:r>
          </a:p>
          <a:p>
            <a:r>
              <a:rPr lang="en-US"/>
              <a:t>However, after adding Brand context to our model, we can predict the retail price within a $3.56 Error (MAE) or $6.08 RMSE. </a:t>
            </a:r>
          </a:p>
          <a:p>
            <a:r>
              <a:rPr lang="en-US"/>
              <a:t/>
            </a:r>
          </a:p>
          <a:p>
            <a:r>
              <a:rPr lang="en-US"/>
              <a:t>So, we confirm our finding that brand positioning is more impactful than ratings, or description length.</a:t>
            </a:r>
          </a:p>
          <a:p>
            <a:r>
              <a:rPr lang="en-US"/>
              <a:t/>
            </a:r>
          </a:p>
          <a:p>
            <a:r>
              <a:rPr lang="en-US"/>
              <a:t>Q&amp;A: The error decreased on the model, so this tells us the predictive power is not a result of overfitting.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Clean beauty is not a differentiator for high-end pricing, but a baseline requirement</a:t>
            </a:r>
          </a:p>
          <a:p>
            <a:r>
              <a:rPr lang="en-US"/>
              <a:t/>
            </a:r>
          </a:p>
          <a:p>
            <a:r>
              <a:rPr lang="en-US"/>
              <a:t>Luxury-aiming Brands should focus on investing in brand positioning, as this does the heavy lifting, allowing the copy to be brief and confident</a:t>
            </a:r>
          </a:p>
          <a:p>
            <a:r>
              <a:rPr lang="en-US"/>
              <a:t/>
            </a:r>
          </a:p>
          <a:p>
            <a:r>
              <a:rPr lang="en-US"/>
              <a:t>This branding can be: packaging, exclusivity, and community building.</a:t>
            </a:r>
          </a:p>
          <a:p>
            <a:r>
              <a:rPr lang="en-US"/>
              <a:t/>
            </a:r>
          </a:p>
          <a:p>
            <a:r>
              <a:rPr lang="en-US"/>
              <a:t>Our models confirmed our findings by acting as a "lie detector":</a:t>
            </a:r>
          </a:p>
          <a:p>
            <a:r>
              <a:rPr lang="en-US"/>
              <a:t>1. Price is a marketing construction (confirmed after adding brand avg price, branding count)</a:t>
            </a:r>
          </a:p>
          <a:p>
            <a:r>
              <a:rPr lang="en-US"/>
              <a:t/>
            </a:r>
          </a:p>
          <a:p>
            <a:r>
              <a:rPr lang="en-US"/>
              <a:t>2. The logisticc regression confirmed that price is a poor predictor of quality/preference (as with false negatives, consumers loved these products even though the model unfavored them)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 can also observe this trend in how the largest companies by volume</a:t>
            </a:r>
          </a:p>
          <a:p>
            <a:r>
              <a:rPr lang="en-US"/>
              <a:t/>
            </a:r>
          </a:p>
          <a:p>
            <a:r>
              <a:rPr lang="en-US"/>
              <a:t>have the most BUDGET FRIENDLY PRODUCTS!</a:t>
            </a:r>
          </a:p>
          <a:p>
            <a:r>
              <a:rPr lang="en-US"/>
              <a:t/>
            </a:r>
          </a:p>
          <a:p>
            <a:r>
              <a:rPr lang="en-US"/>
              <a:t>This shows us that the price-quality link is a MARKETING CHOICE!</a:t>
            </a:r>
          </a:p>
          <a:p>
            <a:r>
              <a:rPr lang="en-US"/>
              <a:t/>
            </a:r>
          </a:p>
          <a:p>
            <a:r>
              <a:rPr lang="en-US"/>
              <a:t>So, high prices are not needed to be the most successful.</a:t>
            </a:r>
          </a:p>
          <a:p>
            <a:r>
              <a:rPr lang="en-US"/>
              <a:t/>
            </a:r>
          </a:p>
          <a:p>
            <a:r>
              <a:rPr lang="en-US"/>
              <a:t>A high price tag is a marketing choice to create brand prestige, which we just saw is the main concern for luxury brands.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 we would find out more about this using a larger, more updated data set, such as the paid Sephora API.</a:t>
            </a:r>
          </a:p>
          <a:p>
            <a:r>
              <a:rPr lang="en-US"/>
              <a:t/>
            </a:r>
          </a:p>
          <a:p>
            <a:r>
              <a:rPr lang="en-US"/>
              <a:t>2. Sentiment analysis on actual user reviews could provide us additional insight on customer satisfaction, beyond the ratings, although this might require more extensive data sources, as reviews are even more scarce than ratings.</a:t>
            </a:r>
          </a:p>
          <a:p>
            <a:r>
              <a:rPr lang="en-US"/>
              <a:t/>
            </a:r>
          </a:p>
          <a:p>
            <a:r>
              <a:rPr lang="en-US"/>
              <a:t>3. We determined that the variables used to predict ratings in the cosmetic industry were not linear. So, looking at additional features (such as ingredients) and using a more complex model (such as random forest to look at intersectionality) could be used to test overlapping markers.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4.png" Type="http://schemas.openxmlformats.org/officeDocument/2006/relationships/image"/><Relationship Id="rId4"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0.png" Type="http://schemas.openxmlformats.org/officeDocument/2006/relationships/image"/><Relationship Id="rId4" Target="../media/image1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2.png" Type="http://schemas.openxmlformats.org/officeDocument/2006/relationships/image"/><Relationship Id="rId4" Target="../media/image1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4.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5.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6B1124">
                <a:alpha val="100000"/>
              </a:srgbClr>
            </a:gs>
            <a:gs pos="50000">
              <a:srgbClr val="000000">
                <a:alpha val="100000"/>
              </a:srgbClr>
            </a:gs>
            <a:gs pos="100000">
              <a:srgbClr val="6B1124">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AutoShape 2" id="2"/>
          <p:cNvSpPr/>
          <p:nvPr/>
        </p:nvSpPr>
        <p:spPr>
          <a:xfrm flipV="true">
            <a:off x="0" y="6569683"/>
            <a:ext cx="18288000" cy="0"/>
          </a:xfrm>
          <a:prstGeom prst="line">
            <a:avLst/>
          </a:prstGeom>
          <a:ln cap="rnd" w="9525">
            <a:solidFill>
              <a:srgbClr val="F4F4F4"/>
            </a:solidFill>
            <a:prstDash val="solid"/>
            <a:headEnd type="none" len="sm" w="sm"/>
            <a:tailEnd type="none" len="sm" w="sm"/>
          </a:ln>
        </p:spPr>
      </p:sp>
      <p:sp>
        <p:nvSpPr>
          <p:cNvPr name="Freeform 3" id="3"/>
          <p:cNvSpPr/>
          <p:nvPr/>
        </p:nvSpPr>
        <p:spPr>
          <a:xfrm flipH="false" flipV="false" rot="0">
            <a:off x="11813247" y="7421494"/>
            <a:ext cx="5446053" cy="1554050"/>
          </a:xfrm>
          <a:custGeom>
            <a:avLst/>
            <a:gdLst/>
            <a:ahLst/>
            <a:cxnLst/>
            <a:rect r="r" b="b" t="t" l="l"/>
            <a:pathLst>
              <a:path h="1554050" w="5446053">
                <a:moveTo>
                  <a:pt x="0" y="0"/>
                </a:moveTo>
                <a:lnTo>
                  <a:pt x="5446053" y="0"/>
                </a:lnTo>
                <a:lnTo>
                  <a:pt x="5446053" y="1554051"/>
                </a:lnTo>
                <a:lnTo>
                  <a:pt x="0" y="1554051"/>
                </a:lnTo>
                <a:lnTo>
                  <a:pt x="0" y="0"/>
                </a:lnTo>
                <a:close/>
              </a:path>
            </a:pathLst>
          </a:custGeom>
          <a:blipFill>
            <a:blip r:embed="rId2"/>
            <a:stretch>
              <a:fillRect l="0" t="0" r="0" b="0"/>
            </a:stretch>
          </a:blipFill>
        </p:spPr>
      </p:sp>
      <p:sp>
        <p:nvSpPr>
          <p:cNvPr name="TextBox 4" id="4"/>
          <p:cNvSpPr txBox="true"/>
          <p:nvPr/>
        </p:nvSpPr>
        <p:spPr>
          <a:xfrm rot="0">
            <a:off x="0" y="2532485"/>
            <a:ext cx="18555064" cy="2155622"/>
          </a:xfrm>
          <a:prstGeom prst="rect">
            <a:avLst/>
          </a:prstGeom>
        </p:spPr>
        <p:txBody>
          <a:bodyPr anchor="t" rtlCol="false" tIns="0" lIns="0" bIns="0" rIns="0">
            <a:spAutoFit/>
          </a:bodyPr>
          <a:lstStyle/>
          <a:p>
            <a:pPr algn="ctr">
              <a:lnSpc>
                <a:spcPts val="8128"/>
              </a:lnSpc>
            </a:pPr>
            <a:r>
              <a:rPr lang="en-US" b="true" sz="8556" spc="-359">
                <a:solidFill>
                  <a:srgbClr val="F4F4F4"/>
                </a:solidFill>
                <a:latin typeface="Times New Roman Bold"/>
                <a:ea typeface="Times New Roman Bold"/>
                <a:cs typeface="Times New Roman Bold"/>
                <a:sym typeface="Times New Roman Bold"/>
              </a:rPr>
              <a:t>Exploratory Data Analysis:</a:t>
            </a:r>
            <a:r>
              <a:rPr lang="en-US" sz="8556" spc="-359">
                <a:solidFill>
                  <a:srgbClr val="F4F4F4"/>
                </a:solidFill>
                <a:latin typeface="Times New Roman"/>
                <a:ea typeface="Times New Roman"/>
                <a:cs typeface="Times New Roman"/>
                <a:sym typeface="Times New Roman"/>
              </a:rPr>
              <a:t>                         The </a:t>
            </a:r>
            <a:r>
              <a:rPr lang="en-US" sz="8556" spc="-359">
                <a:solidFill>
                  <a:srgbClr val="7ED957"/>
                </a:solidFill>
                <a:latin typeface="Times New Roman"/>
                <a:ea typeface="Times New Roman"/>
                <a:cs typeface="Times New Roman"/>
                <a:sym typeface="Times New Roman"/>
              </a:rPr>
              <a:t>Beauty Industry</a:t>
            </a:r>
            <a:r>
              <a:rPr lang="en-US" sz="8556" spc="-359">
                <a:solidFill>
                  <a:srgbClr val="F4F4F4"/>
                </a:solidFill>
                <a:latin typeface="Times New Roman"/>
                <a:ea typeface="Times New Roman"/>
                <a:cs typeface="Times New Roman"/>
                <a:sym typeface="Times New Roman"/>
              </a:rPr>
              <a:t> &amp; The “</a:t>
            </a:r>
            <a:r>
              <a:rPr lang="en-US" sz="8556" spc="-359">
                <a:solidFill>
                  <a:srgbClr val="7ED957"/>
                </a:solidFill>
                <a:latin typeface="Times New Roman"/>
                <a:ea typeface="Times New Roman"/>
                <a:cs typeface="Times New Roman"/>
                <a:sym typeface="Times New Roman"/>
              </a:rPr>
              <a:t>Luxury Marker</a:t>
            </a:r>
            <a:r>
              <a:rPr lang="en-US" sz="8556" spc="-359">
                <a:solidFill>
                  <a:srgbClr val="F4F4F4"/>
                </a:solidFill>
                <a:latin typeface="Times New Roman"/>
                <a:ea typeface="Times New Roman"/>
                <a:cs typeface="Times New Roman"/>
                <a:sym typeface="Times New Roman"/>
              </a:rPr>
              <a:t>” </a:t>
            </a:r>
          </a:p>
        </p:txBody>
      </p:sp>
      <p:sp>
        <p:nvSpPr>
          <p:cNvPr name="TextBox 5" id="5"/>
          <p:cNvSpPr txBox="true"/>
          <p:nvPr/>
        </p:nvSpPr>
        <p:spPr>
          <a:xfrm rot="0">
            <a:off x="1028700" y="7480694"/>
            <a:ext cx="6967016" cy="568416"/>
          </a:xfrm>
          <a:prstGeom prst="rect">
            <a:avLst/>
          </a:prstGeom>
        </p:spPr>
        <p:txBody>
          <a:bodyPr anchor="t" rtlCol="false" tIns="0" lIns="0" bIns="0" rIns="0">
            <a:spAutoFit/>
          </a:bodyPr>
          <a:lstStyle/>
          <a:p>
            <a:pPr algn="l">
              <a:lnSpc>
                <a:spcPts val="4370"/>
              </a:lnSpc>
              <a:spcBef>
                <a:spcPct val="0"/>
              </a:spcBef>
            </a:pPr>
            <a:r>
              <a:rPr lang="en-US" sz="3121" spc="-131">
                <a:solidFill>
                  <a:srgbClr val="F4F4F4"/>
                </a:solidFill>
                <a:latin typeface="Poppins"/>
                <a:ea typeface="Poppins"/>
                <a:cs typeface="Poppins"/>
                <a:sym typeface="Poppins"/>
              </a:rPr>
              <a:t>Group 15: Eliram, Lisa, Judi </a:t>
            </a:r>
          </a:p>
        </p:txBody>
      </p:sp>
      <p:sp>
        <p:nvSpPr>
          <p:cNvPr name="TextBox 6" id="6"/>
          <p:cNvSpPr txBox="true"/>
          <p:nvPr/>
        </p:nvSpPr>
        <p:spPr>
          <a:xfrm rot="0">
            <a:off x="1028700" y="8160419"/>
            <a:ext cx="10310565" cy="356235"/>
          </a:xfrm>
          <a:prstGeom prst="rect">
            <a:avLst/>
          </a:prstGeom>
        </p:spPr>
        <p:txBody>
          <a:bodyPr anchor="t" rtlCol="false" tIns="0" lIns="0" bIns="0" rIns="0">
            <a:spAutoFit/>
          </a:bodyPr>
          <a:lstStyle/>
          <a:p>
            <a:pPr algn="just">
              <a:lnSpc>
                <a:spcPts val="2939"/>
              </a:lnSpc>
              <a:spcBef>
                <a:spcPct val="0"/>
              </a:spcBef>
            </a:pPr>
            <a:r>
              <a:rPr lang="en-US" sz="2099">
                <a:solidFill>
                  <a:srgbClr val="FFFFFF"/>
                </a:solidFill>
                <a:latin typeface="Inter Extra-Light"/>
                <a:ea typeface="Inter Extra-Light"/>
                <a:cs typeface="Inter Extra-Light"/>
                <a:sym typeface="Inter Extra-Light"/>
              </a:rPr>
              <a:t>Data Analysis with Python and SQL Winter Quarter 2026</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6B1124">
                <a:alpha val="100000"/>
              </a:srgbClr>
            </a:gs>
            <a:gs pos="50000">
              <a:srgbClr val="000000">
                <a:alpha val="100000"/>
              </a:srgbClr>
            </a:gs>
            <a:gs pos="100000">
              <a:srgbClr val="6B1124">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6261637" y="6448425"/>
            <a:ext cx="5764725" cy="3400152"/>
          </a:xfrm>
          <a:custGeom>
            <a:avLst/>
            <a:gdLst/>
            <a:ahLst/>
            <a:cxnLst/>
            <a:rect r="r" b="b" t="t" l="l"/>
            <a:pathLst>
              <a:path h="3400152" w="5764725">
                <a:moveTo>
                  <a:pt x="0" y="0"/>
                </a:moveTo>
                <a:lnTo>
                  <a:pt x="5764726" y="0"/>
                </a:lnTo>
                <a:lnTo>
                  <a:pt x="5764726" y="3400152"/>
                </a:lnTo>
                <a:lnTo>
                  <a:pt x="0" y="3400152"/>
                </a:lnTo>
                <a:lnTo>
                  <a:pt x="0" y="0"/>
                </a:lnTo>
                <a:close/>
              </a:path>
            </a:pathLst>
          </a:custGeom>
          <a:blipFill>
            <a:blip r:embed="rId3"/>
            <a:stretch>
              <a:fillRect l="0" t="0" r="0" b="0"/>
            </a:stretch>
          </a:blipFill>
        </p:spPr>
      </p:sp>
      <p:sp>
        <p:nvSpPr>
          <p:cNvPr name="TextBox 3" id="3"/>
          <p:cNvSpPr txBox="true"/>
          <p:nvPr/>
        </p:nvSpPr>
        <p:spPr>
          <a:xfrm rot="0">
            <a:off x="1843219" y="17403"/>
            <a:ext cx="15157984" cy="1390006"/>
          </a:xfrm>
          <a:prstGeom prst="rect">
            <a:avLst/>
          </a:prstGeom>
        </p:spPr>
        <p:txBody>
          <a:bodyPr anchor="t" rtlCol="false" tIns="0" lIns="0" bIns="0" rIns="0">
            <a:spAutoFit/>
          </a:bodyPr>
          <a:lstStyle/>
          <a:p>
            <a:pPr algn="ctr">
              <a:lnSpc>
                <a:spcPts val="11060"/>
              </a:lnSpc>
            </a:pPr>
            <a:r>
              <a:rPr lang="en-US" sz="7900">
                <a:solidFill>
                  <a:srgbClr val="FFFFFF"/>
                </a:solidFill>
                <a:latin typeface="Times New Roman"/>
                <a:ea typeface="Times New Roman"/>
                <a:cs typeface="Times New Roman"/>
                <a:sym typeface="Times New Roman"/>
              </a:rPr>
              <a:t>The Beauty Industry Paradox</a:t>
            </a:r>
          </a:p>
        </p:txBody>
      </p:sp>
      <p:sp>
        <p:nvSpPr>
          <p:cNvPr name="TextBox 4" id="4"/>
          <p:cNvSpPr txBox="true"/>
          <p:nvPr/>
        </p:nvSpPr>
        <p:spPr>
          <a:xfrm rot="0">
            <a:off x="230326" y="5667375"/>
            <a:ext cx="15496052" cy="542925"/>
          </a:xfrm>
          <a:prstGeom prst="rect">
            <a:avLst/>
          </a:prstGeom>
        </p:spPr>
        <p:txBody>
          <a:bodyPr anchor="t" rtlCol="false" tIns="0" lIns="0" bIns="0" rIns="0">
            <a:spAutoFit/>
          </a:bodyPr>
          <a:lstStyle/>
          <a:p>
            <a:pPr algn="l" marL="647700" indent="-323850" lvl="1">
              <a:lnSpc>
                <a:spcPts val="4200"/>
              </a:lnSpc>
              <a:spcBef>
                <a:spcPct val="0"/>
              </a:spcBef>
              <a:buFont typeface="Arial"/>
              <a:buChar char="•"/>
            </a:pPr>
            <a:r>
              <a:rPr lang="en-US" b="true" sz="3000" spc="63">
                <a:solidFill>
                  <a:srgbClr val="7ED957"/>
                </a:solidFill>
                <a:latin typeface="Poppins Bold"/>
                <a:ea typeface="Poppins Bold"/>
                <a:cs typeface="Poppins Bold"/>
                <a:sym typeface="Poppins Bold"/>
              </a:rPr>
              <a:t>MAKEUP API:</a:t>
            </a:r>
            <a:r>
              <a:rPr lang="en-US" sz="3000" spc="63">
                <a:solidFill>
                  <a:srgbClr val="FFFFFF"/>
                </a:solidFill>
                <a:latin typeface="Poppins"/>
                <a:ea typeface="Poppins"/>
                <a:cs typeface="Poppins"/>
                <a:sym typeface="Poppins"/>
              </a:rPr>
              <a:t> +900 PRODUCTS FROM +50 BRANDS (AFTER CLEANING)</a:t>
            </a:r>
          </a:p>
        </p:txBody>
      </p:sp>
      <p:sp>
        <p:nvSpPr>
          <p:cNvPr name="TextBox 5" id="5"/>
          <p:cNvSpPr txBox="true"/>
          <p:nvPr/>
        </p:nvSpPr>
        <p:spPr>
          <a:xfrm rot="0">
            <a:off x="230326" y="1936301"/>
            <a:ext cx="10298906" cy="542925"/>
          </a:xfrm>
          <a:prstGeom prst="rect">
            <a:avLst/>
          </a:prstGeom>
        </p:spPr>
        <p:txBody>
          <a:bodyPr anchor="t" rtlCol="false" tIns="0" lIns="0" bIns="0" rIns="0">
            <a:spAutoFit/>
          </a:bodyPr>
          <a:lstStyle/>
          <a:p>
            <a:pPr algn="l" marL="647700" indent="-323850" lvl="1">
              <a:lnSpc>
                <a:spcPts val="4200"/>
              </a:lnSpc>
              <a:spcBef>
                <a:spcPct val="0"/>
              </a:spcBef>
              <a:buFont typeface="Arial"/>
              <a:buChar char="•"/>
            </a:pPr>
            <a:r>
              <a:rPr lang="en-US" sz="3000" spc="63">
                <a:solidFill>
                  <a:srgbClr val="FFFFFF"/>
                </a:solidFill>
                <a:latin typeface="Poppins"/>
                <a:ea typeface="Poppins"/>
                <a:cs typeface="Poppins"/>
                <a:sym typeface="Poppins"/>
              </a:rPr>
              <a:t>DO HIGHER PRICES GUARANTEE SUPERIOR QUALITY?</a:t>
            </a:r>
          </a:p>
        </p:txBody>
      </p:sp>
      <p:sp>
        <p:nvSpPr>
          <p:cNvPr name="TextBox 6" id="6"/>
          <p:cNvSpPr txBox="true"/>
          <p:nvPr/>
        </p:nvSpPr>
        <p:spPr>
          <a:xfrm rot="0">
            <a:off x="230326" y="2688652"/>
            <a:ext cx="16606334" cy="542925"/>
          </a:xfrm>
          <a:prstGeom prst="rect">
            <a:avLst/>
          </a:prstGeom>
        </p:spPr>
        <p:txBody>
          <a:bodyPr anchor="t" rtlCol="false" tIns="0" lIns="0" bIns="0" rIns="0">
            <a:spAutoFit/>
          </a:bodyPr>
          <a:lstStyle/>
          <a:p>
            <a:pPr algn="l" marL="647700" indent="-323850" lvl="1">
              <a:lnSpc>
                <a:spcPts val="4200"/>
              </a:lnSpc>
              <a:spcBef>
                <a:spcPct val="0"/>
              </a:spcBef>
              <a:buFont typeface="Arial"/>
              <a:buChar char="•"/>
            </a:pPr>
            <a:r>
              <a:rPr lang="en-US" sz="3000" spc="63">
                <a:solidFill>
                  <a:srgbClr val="FFFFFF"/>
                </a:solidFill>
                <a:latin typeface="Poppins"/>
                <a:ea typeface="Poppins"/>
                <a:cs typeface="Poppins"/>
                <a:sym typeface="Poppins"/>
              </a:rPr>
              <a:t>IS PRICE A SIGNAL OF PERFORMANCE OR A BYPRODUCT OF MARKETING?</a:t>
            </a:r>
          </a:p>
        </p:txBody>
      </p:sp>
      <p:sp>
        <p:nvSpPr>
          <p:cNvPr name="TextBox 7" id="7"/>
          <p:cNvSpPr txBox="true"/>
          <p:nvPr/>
        </p:nvSpPr>
        <p:spPr>
          <a:xfrm rot="0">
            <a:off x="230326" y="4972050"/>
            <a:ext cx="13066812" cy="542925"/>
          </a:xfrm>
          <a:prstGeom prst="rect">
            <a:avLst/>
          </a:prstGeom>
        </p:spPr>
        <p:txBody>
          <a:bodyPr anchor="t" rtlCol="false" tIns="0" lIns="0" bIns="0" rIns="0">
            <a:spAutoFit/>
          </a:bodyPr>
          <a:lstStyle/>
          <a:p>
            <a:pPr algn="l" marL="647700" indent="-323850" lvl="1">
              <a:lnSpc>
                <a:spcPts val="4200"/>
              </a:lnSpc>
              <a:spcBef>
                <a:spcPct val="0"/>
              </a:spcBef>
              <a:buFont typeface="Arial"/>
              <a:buChar char="•"/>
            </a:pPr>
            <a:r>
              <a:rPr lang="en-US" b="true" sz="3000" i="true" spc="63">
                <a:solidFill>
                  <a:srgbClr val="7ED957"/>
                </a:solidFill>
                <a:latin typeface="Poppins Bold Italics"/>
                <a:ea typeface="Poppins Bold Italics"/>
                <a:cs typeface="Poppins Bold Italics"/>
                <a:sym typeface="Poppins Bold Italics"/>
              </a:rPr>
              <a:t>MARKETING FOCUS:</a:t>
            </a:r>
            <a:r>
              <a:rPr lang="en-US" sz="3000" i="true" spc="63">
                <a:solidFill>
                  <a:srgbClr val="FFFFFF"/>
                </a:solidFill>
                <a:latin typeface="Poppins Italics"/>
                <a:ea typeface="Poppins Italics"/>
                <a:cs typeface="Poppins Italics"/>
                <a:sym typeface="Poppins Italics"/>
              </a:rPr>
              <a:t> PRODUCT COPY LENGTH AND GREEN CLAIMS</a:t>
            </a:r>
          </a:p>
        </p:txBody>
      </p:sp>
      <p:sp>
        <p:nvSpPr>
          <p:cNvPr name="TextBox 8" id="8"/>
          <p:cNvSpPr txBox="true"/>
          <p:nvPr/>
        </p:nvSpPr>
        <p:spPr>
          <a:xfrm rot="0">
            <a:off x="230326" y="3800475"/>
            <a:ext cx="16770877" cy="1076325"/>
          </a:xfrm>
          <a:prstGeom prst="rect">
            <a:avLst/>
          </a:prstGeom>
        </p:spPr>
        <p:txBody>
          <a:bodyPr anchor="t" rtlCol="false" tIns="0" lIns="0" bIns="0" rIns="0">
            <a:spAutoFit/>
          </a:bodyPr>
          <a:lstStyle/>
          <a:p>
            <a:pPr algn="l" marL="647700" indent="-323850" lvl="1">
              <a:lnSpc>
                <a:spcPts val="4200"/>
              </a:lnSpc>
              <a:spcBef>
                <a:spcPct val="0"/>
              </a:spcBef>
              <a:buFont typeface="Arial"/>
              <a:buChar char="•"/>
            </a:pPr>
            <a:r>
              <a:rPr lang="en-US" b="true" sz="3000" spc="63">
                <a:solidFill>
                  <a:srgbClr val="7ED957"/>
                </a:solidFill>
                <a:latin typeface="Poppins Bold"/>
                <a:ea typeface="Poppins Bold"/>
                <a:cs typeface="Poppins Bold"/>
                <a:sym typeface="Poppins Bold"/>
              </a:rPr>
              <a:t>AUDIENCE</a:t>
            </a:r>
            <a:r>
              <a:rPr lang="en-US" b="true" sz="3000" spc="63">
                <a:solidFill>
                  <a:srgbClr val="FFFFFF"/>
                </a:solidFill>
                <a:latin typeface="Poppins Bold"/>
                <a:ea typeface="Poppins Bold"/>
                <a:cs typeface="Poppins Bold"/>
                <a:sym typeface="Poppins Bold"/>
              </a:rPr>
              <a:t>: </a:t>
            </a:r>
            <a:r>
              <a:rPr lang="en-US" sz="3000" spc="63">
                <a:solidFill>
                  <a:srgbClr val="FFFFFF"/>
                </a:solidFill>
                <a:latin typeface="Poppins"/>
                <a:ea typeface="Poppins"/>
                <a:cs typeface="Poppins"/>
                <a:sym typeface="Poppins"/>
              </a:rPr>
              <a:t>CONSUMERS NAVIGATING MARKETING “FLUFF” AND BRAND MANAGERS SEEKING MARKET POSITIONING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6B1124">
                <a:alpha val="100000"/>
              </a:srgbClr>
            </a:gs>
            <a:gs pos="50000">
              <a:srgbClr val="000000">
                <a:alpha val="100000"/>
              </a:srgbClr>
            </a:gs>
            <a:gs pos="100000">
              <a:srgbClr val="6B1124">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11616724" y="3156845"/>
            <a:ext cx="6248029" cy="6248029"/>
          </a:xfrm>
          <a:custGeom>
            <a:avLst/>
            <a:gdLst/>
            <a:ahLst/>
            <a:cxnLst/>
            <a:rect r="r" b="b" t="t" l="l"/>
            <a:pathLst>
              <a:path h="6248029" w="6248029">
                <a:moveTo>
                  <a:pt x="0" y="0"/>
                </a:moveTo>
                <a:lnTo>
                  <a:pt x="6248029" y="0"/>
                </a:lnTo>
                <a:lnTo>
                  <a:pt x="6248029" y="6248029"/>
                </a:lnTo>
                <a:lnTo>
                  <a:pt x="0" y="6248029"/>
                </a:lnTo>
                <a:lnTo>
                  <a:pt x="0" y="0"/>
                </a:lnTo>
                <a:close/>
              </a:path>
            </a:pathLst>
          </a:custGeom>
          <a:blipFill>
            <a:blip r:embed="rId3"/>
            <a:stretch>
              <a:fillRect l="0" t="0" r="0" b="0"/>
            </a:stretch>
          </a:blipFill>
        </p:spPr>
      </p:sp>
      <p:sp>
        <p:nvSpPr>
          <p:cNvPr name="TextBox 3" id="3"/>
          <p:cNvSpPr txBox="true"/>
          <p:nvPr/>
        </p:nvSpPr>
        <p:spPr>
          <a:xfrm rot="0">
            <a:off x="4919112" y="485775"/>
            <a:ext cx="8449777" cy="1060449"/>
          </a:xfrm>
          <a:prstGeom prst="rect">
            <a:avLst/>
          </a:prstGeom>
        </p:spPr>
        <p:txBody>
          <a:bodyPr anchor="t" rtlCol="false" tIns="0" lIns="0" bIns="0" rIns="0">
            <a:spAutoFit/>
          </a:bodyPr>
          <a:lstStyle/>
          <a:p>
            <a:pPr algn="ctr">
              <a:lnSpc>
                <a:spcPts val="7504"/>
              </a:lnSpc>
            </a:pPr>
            <a:r>
              <a:rPr lang="en-US" sz="7899" spc="-331">
                <a:solidFill>
                  <a:srgbClr val="F4F4F4"/>
                </a:solidFill>
                <a:latin typeface="Times New Roman"/>
                <a:ea typeface="Times New Roman"/>
                <a:cs typeface="Times New Roman"/>
                <a:sym typeface="Times New Roman"/>
              </a:rPr>
              <a:t>Our Hypotheses</a:t>
            </a:r>
          </a:p>
        </p:txBody>
      </p:sp>
      <p:sp>
        <p:nvSpPr>
          <p:cNvPr name="TextBox 4" id="4"/>
          <p:cNvSpPr txBox="true"/>
          <p:nvPr/>
        </p:nvSpPr>
        <p:spPr>
          <a:xfrm rot="0">
            <a:off x="456190" y="2182171"/>
            <a:ext cx="12040132" cy="2676525"/>
          </a:xfrm>
          <a:prstGeom prst="rect">
            <a:avLst/>
          </a:prstGeom>
        </p:spPr>
        <p:txBody>
          <a:bodyPr anchor="t" rtlCol="false" tIns="0" lIns="0" bIns="0" rIns="0">
            <a:spAutoFit/>
          </a:bodyPr>
          <a:lstStyle/>
          <a:p>
            <a:pPr algn="l" marL="647700" indent="-323850" lvl="1">
              <a:lnSpc>
                <a:spcPts val="4200"/>
              </a:lnSpc>
              <a:spcBef>
                <a:spcPct val="0"/>
              </a:spcBef>
              <a:buFont typeface="Arial"/>
              <a:buChar char="•"/>
            </a:pPr>
            <a:r>
              <a:rPr lang="en-US" b="true" sz="3000" spc="63">
                <a:solidFill>
                  <a:srgbClr val="FFFFFF"/>
                </a:solidFill>
                <a:latin typeface="Poppins Medium"/>
                <a:ea typeface="Poppins Medium"/>
                <a:cs typeface="Poppins Medium"/>
                <a:sym typeface="Poppins Medium"/>
              </a:rPr>
              <a:t>PRODUCTS MARKETED WITH “</a:t>
            </a:r>
            <a:r>
              <a:rPr lang="en-US" b="true" sz="3000" spc="63">
                <a:solidFill>
                  <a:srgbClr val="7ED957"/>
                </a:solidFill>
                <a:latin typeface="Poppins Medium"/>
                <a:ea typeface="Poppins Medium"/>
                <a:cs typeface="Poppins Medium"/>
                <a:sym typeface="Poppins Medium"/>
              </a:rPr>
              <a:t>GREEN</a:t>
            </a:r>
            <a:r>
              <a:rPr lang="en-US" b="true" sz="3000" spc="63">
                <a:solidFill>
                  <a:srgbClr val="FFFFFF"/>
                </a:solidFill>
                <a:latin typeface="Poppins Medium"/>
                <a:ea typeface="Poppins Medium"/>
                <a:cs typeface="Poppins Medium"/>
                <a:sym typeface="Poppins Medium"/>
              </a:rPr>
              <a:t>”  OR </a:t>
            </a:r>
            <a:r>
              <a:rPr lang="en-US" b="true" sz="3000" spc="63">
                <a:solidFill>
                  <a:srgbClr val="7ED957"/>
                </a:solidFill>
                <a:latin typeface="Poppins Medium"/>
                <a:ea typeface="Poppins Medium"/>
                <a:cs typeface="Poppins Medium"/>
                <a:sym typeface="Poppins Medium"/>
              </a:rPr>
              <a:t>SUSTAINABILITY RELATED</a:t>
            </a:r>
            <a:r>
              <a:rPr lang="en-US" b="true" sz="3000" spc="63">
                <a:solidFill>
                  <a:srgbClr val="FFFFFF"/>
                </a:solidFill>
                <a:latin typeface="Poppins Medium"/>
                <a:ea typeface="Poppins Medium"/>
                <a:cs typeface="Poppins Medium"/>
                <a:sym typeface="Poppins Medium"/>
              </a:rPr>
              <a:t> TERMS WILL RECEIVE HIGHER RATINGS AND POTENTIALLY COMMAND HIGHER PRICES DUE TO INCREASING CONSUMER DEMAND FOR SUSTAINABLE COSMETICS</a:t>
            </a:r>
          </a:p>
        </p:txBody>
      </p:sp>
      <p:sp>
        <p:nvSpPr>
          <p:cNvPr name="TextBox 5" id="5"/>
          <p:cNvSpPr txBox="true"/>
          <p:nvPr/>
        </p:nvSpPr>
        <p:spPr>
          <a:xfrm rot="0">
            <a:off x="1224385" y="5057775"/>
            <a:ext cx="5067842" cy="552334"/>
          </a:xfrm>
          <a:prstGeom prst="rect">
            <a:avLst/>
          </a:prstGeom>
        </p:spPr>
        <p:txBody>
          <a:bodyPr anchor="t" rtlCol="false" tIns="0" lIns="0" bIns="0" rIns="0">
            <a:spAutoFit/>
          </a:bodyPr>
          <a:lstStyle/>
          <a:p>
            <a:pPr algn="l" marL="1322059" indent="-440686" lvl="2">
              <a:lnSpc>
                <a:spcPts val="4286"/>
              </a:lnSpc>
              <a:spcBef>
                <a:spcPct val="0"/>
              </a:spcBef>
              <a:buFont typeface="Arial"/>
              <a:buChar char="⚬"/>
            </a:pPr>
            <a:r>
              <a:rPr lang="en-US" sz="3061">
                <a:solidFill>
                  <a:srgbClr val="FFFFFF"/>
                </a:solidFill>
                <a:latin typeface="Poppins"/>
                <a:ea typeface="Poppins"/>
                <a:cs typeface="Poppins"/>
                <a:sym typeface="Poppins"/>
              </a:rPr>
              <a:t>PRICE–QUALITY GAP</a:t>
            </a:r>
          </a:p>
        </p:txBody>
      </p:sp>
      <p:sp>
        <p:nvSpPr>
          <p:cNvPr name="TextBox 6" id="6"/>
          <p:cNvSpPr txBox="true"/>
          <p:nvPr/>
        </p:nvSpPr>
        <p:spPr>
          <a:xfrm rot="0">
            <a:off x="1224385" y="5728525"/>
            <a:ext cx="5559665" cy="552334"/>
          </a:xfrm>
          <a:prstGeom prst="rect">
            <a:avLst/>
          </a:prstGeom>
        </p:spPr>
        <p:txBody>
          <a:bodyPr anchor="t" rtlCol="false" tIns="0" lIns="0" bIns="0" rIns="0">
            <a:spAutoFit/>
          </a:bodyPr>
          <a:lstStyle/>
          <a:p>
            <a:pPr algn="l" marL="1322059" indent="-440686" lvl="2">
              <a:lnSpc>
                <a:spcPts val="4286"/>
              </a:lnSpc>
              <a:spcBef>
                <a:spcPct val="0"/>
              </a:spcBef>
              <a:buFont typeface="Arial"/>
              <a:buChar char="⚬"/>
            </a:pPr>
            <a:r>
              <a:rPr lang="en-US" sz="3061">
                <a:solidFill>
                  <a:srgbClr val="FFFFFF"/>
                </a:solidFill>
                <a:latin typeface="Poppins"/>
                <a:ea typeface="Poppins"/>
                <a:cs typeface="Poppins"/>
                <a:sym typeface="Poppins"/>
              </a:rPr>
              <a:t>DESCRIPTION PREMIUM</a:t>
            </a:r>
          </a:p>
        </p:txBody>
      </p:sp>
      <p:sp>
        <p:nvSpPr>
          <p:cNvPr name="TextBox 7" id="7"/>
          <p:cNvSpPr txBox="true"/>
          <p:nvPr/>
        </p:nvSpPr>
        <p:spPr>
          <a:xfrm rot="0">
            <a:off x="1224385" y="6393024"/>
            <a:ext cx="9671353" cy="552334"/>
          </a:xfrm>
          <a:prstGeom prst="rect">
            <a:avLst/>
          </a:prstGeom>
        </p:spPr>
        <p:txBody>
          <a:bodyPr anchor="t" rtlCol="false" tIns="0" lIns="0" bIns="0" rIns="0">
            <a:spAutoFit/>
          </a:bodyPr>
          <a:lstStyle/>
          <a:p>
            <a:pPr algn="l" marL="1322059" indent="-440686" lvl="2">
              <a:lnSpc>
                <a:spcPts val="4286"/>
              </a:lnSpc>
              <a:spcBef>
                <a:spcPct val="0"/>
              </a:spcBef>
              <a:buFont typeface="Arial"/>
              <a:buChar char="⚬"/>
            </a:pPr>
            <a:r>
              <a:rPr lang="en-US" sz="3061">
                <a:solidFill>
                  <a:srgbClr val="FFFFFF"/>
                </a:solidFill>
                <a:latin typeface="Poppins"/>
                <a:ea typeface="Poppins"/>
                <a:cs typeface="Poppins"/>
                <a:sym typeface="Poppins"/>
              </a:rPr>
              <a:t>ARE GREEN CLAIMS A STANDARD OR LUXURY?</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6B1124">
                <a:alpha val="100000"/>
              </a:srgbClr>
            </a:gs>
            <a:gs pos="50000">
              <a:srgbClr val="000000">
                <a:alpha val="100000"/>
              </a:srgbClr>
            </a:gs>
            <a:gs pos="100000">
              <a:srgbClr val="6B1124">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10164118" y="2164068"/>
            <a:ext cx="5647145" cy="3420426"/>
          </a:xfrm>
          <a:custGeom>
            <a:avLst/>
            <a:gdLst/>
            <a:ahLst/>
            <a:cxnLst/>
            <a:rect r="r" b="b" t="t" l="l"/>
            <a:pathLst>
              <a:path h="3420426" w="5647145">
                <a:moveTo>
                  <a:pt x="0" y="0"/>
                </a:moveTo>
                <a:lnTo>
                  <a:pt x="5647145" y="0"/>
                </a:lnTo>
                <a:lnTo>
                  <a:pt x="5647145" y="3420426"/>
                </a:lnTo>
                <a:lnTo>
                  <a:pt x="0" y="3420426"/>
                </a:lnTo>
                <a:lnTo>
                  <a:pt x="0" y="0"/>
                </a:lnTo>
                <a:close/>
              </a:path>
            </a:pathLst>
          </a:custGeom>
          <a:blipFill>
            <a:blip r:embed="rId3"/>
            <a:stretch>
              <a:fillRect l="0" t="0" r="0" b="0"/>
            </a:stretch>
          </a:blipFill>
        </p:spPr>
      </p:sp>
      <p:sp>
        <p:nvSpPr>
          <p:cNvPr name="Freeform 3" id="3"/>
          <p:cNvSpPr/>
          <p:nvPr/>
        </p:nvSpPr>
        <p:spPr>
          <a:xfrm flipH="false" flipV="false" rot="0">
            <a:off x="734204" y="3047224"/>
            <a:ext cx="8219916" cy="5074540"/>
          </a:xfrm>
          <a:custGeom>
            <a:avLst/>
            <a:gdLst/>
            <a:ahLst/>
            <a:cxnLst/>
            <a:rect r="r" b="b" t="t" l="l"/>
            <a:pathLst>
              <a:path h="5074540" w="8219916">
                <a:moveTo>
                  <a:pt x="0" y="0"/>
                </a:moveTo>
                <a:lnTo>
                  <a:pt x="8219916" y="0"/>
                </a:lnTo>
                <a:lnTo>
                  <a:pt x="8219916" y="5074540"/>
                </a:lnTo>
                <a:lnTo>
                  <a:pt x="0" y="5074540"/>
                </a:lnTo>
                <a:lnTo>
                  <a:pt x="0" y="0"/>
                </a:lnTo>
                <a:close/>
              </a:path>
            </a:pathLst>
          </a:custGeom>
          <a:blipFill>
            <a:blip r:embed="rId4"/>
            <a:stretch>
              <a:fillRect l="0" t="0" r="0" b="0"/>
            </a:stretch>
          </a:blipFill>
        </p:spPr>
      </p:sp>
      <p:sp>
        <p:nvSpPr>
          <p:cNvPr name="TextBox 4" id="4"/>
          <p:cNvSpPr txBox="true"/>
          <p:nvPr/>
        </p:nvSpPr>
        <p:spPr>
          <a:xfrm rot="0">
            <a:off x="1792177" y="248668"/>
            <a:ext cx="14019087" cy="1222375"/>
          </a:xfrm>
          <a:prstGeom prst="rect">
            <a:avLst/>
          </a:prstGeom>
        </p:spPr>
        <p:txBody>
          <a:bodyPr anchor="t" rtlCol="false" tIns="0" lIns="0" bIns="0" rIns="0">
            <a:spAutoFit/>
          </a:bodyPr>
          <a:lstStyle/>
          <a:p>
            <a:pPr algn="ctr">
              <a:lnSpc>
                <a:spcPts val="9799"/>
              </a:lnSpc>
            </a:pPr>
            <a:r>
              <a:rPr lang="en-US" sz="6999" b="true">
                <a:solidFill>
                  <a:srgbClr val="FFFFFF"/>
                </a:solidFill>
                <a:latin typeface="Times New Roman Bold"/>
                <a:ea typeface="Times New Roman Bold"/>
                <a:cs typeface="Times New Roman Bold"/>
                <a:sym typeface="Times New Roman Bold"/>
              </a:rPr>
              <a:t>Finding I: </a:t>
            </a:r>
            <a:r>
              <a:rPr lang="en-US" sz="6999">
                <a:solidFill>
                  <a:srgbClr val="FFFFFF"/>
                </a:solidFill>
                <a:latin typeface="Times New Roman"/>
                <a:ea typeface="Times New Roman"/>
                <a:cs typeface="Times New Roman"/>
                <a:sym typeface="Times New Roman"/>
              </a:rPr>
              <a:t>The Price-Quality Myth</a:t>
            </a:r>
          </a:p>
        </p:txBody>
      </p:sp>
      <p:sp>
        <p:nvSpPr>
          <p:cNvPr name="TextBox 5" id="5"/>
          <p:cNvSpPr txBox="true"/>
          <p:nvPr/>
        </p:nvSpPr>
        <p:spPr>
          <a:xfrm rot="0">
            <a:off x="8954120" y="5941574"/>
            <a:ext cx="9074478" cy="1818362"/>
          </a:xfrm>
          <a:prstGeom prst="rect">
            <a:avLst/>
          </a:prstGeom>
        </p:spPr>
        <p:txBody>
          <a:bodyPr anchor="t" rtlCol="false" tIns="0" lIns="0" bIns="0" rIns="0">
            <a:spAutoFit/>
          </a:bodyPr>
          <a:lstStyle/>
          <a:p>
            <a:pPr algn="l" marL="736427" indent="-368213" lvl="1">
              <a:lnSpc>
                <a:spcPts val="4775"/>
              </a:lnSpc>
              <a:buFont typeface="Arial"/>
              <a:buChar char="•"/>
            </a:pPr>
            <a:r>
              <a:rPr lang="en-US" sz="3410">
                <a:solidFill>
                  <a:srgbClr val="7ED957"/>
                </a:solidFill>
                <a:latin typeface="Poppins"/>
                <a:ea typeface="Poppins"/>
                <a:cs typeface="Poppins"/>
                <a:sym typeface="Poppins"/>
              </a:rPr>
              <a:t>Our expectation</a:t>
            </a:r>
            <a:r>
              <a:rPr lang="en-US" sz="3410">
                <a:solidFill>
                  <a:srgbClr val="FFFFFF"/>
                </a:solidFill>
                <a:latin typeface="Poppins"/>
                <a:ea typeface="Poppins"/>
                <a:cs typeface="Poppins"/>
                <a:sym typeface="Poppins"/>
              </a:rPr>
              <a:t>: Luxury or “better” products would have significantly higher ratings. </a:t>
            </a:r>
          </a:p>
        </p:txBody>
      </p:sp>
      <p:sp>
        <p:nvSpPr>
          <p:cNvPr name="TextBox 6" id="6"/>
          <p:cNvSpPr txBox="true"/>
          <p:nvPr/>
        </p:nvSpPr>
        <p:spPr>
          <a:xfrm rot="0">
            <a:off x="8954120" y="7886635"/>
            <a:ext cx="9333880" cy="1218565"/>
          </a:xfrm>
          <a:prstGeom prst="rect">
            <a:avLst/>
          </a:prstGeom>
        </p:spPr>
        <p:txBody>
          <a:bodyPr anchor="t" rtlCol="false" tIns="0" lIns="0" bIns="0" rIns="0">
            <a:spAutoFit/>
          </a:bodyPr>
          <a:lstStyle/>
          <a:p>
            <a:pPr algn="l" marL="734059" indent="-367030" lvl="1">
              <a:lnSpc>
                <a:spcPts val="4759"/>
              </a:lnSpc>
              <a:buFont typeface="Arial"/>
              <a:buChar char="•"/>
            </a:pPr>
            <a:r>
              <a:rPr lang="en-US" sz="3399">
                <a:solidFill>
                  <a:srgbClr val="7ED957"/>
                </a:solidFill>
                <a:latin typeface="Poppins"/>
                <a:ea typeface="Poppins"/>
                <a:cs typeface="Poppins"/>
                <a:sym typeface="Poppins"/>
              </a:rPr>
              <a:t>Reality</a:t>
            </a:r>
            <a:r>
              <a:rPr lang="en-US" sz="3399">
                <a:solidFill>
                  <a:srgbClr val="FFFFFF"/>
                </a:solidFill>
                <a:latin typeface="Poppins"/>
                <a:ea typeface="Poppins"/>
                <a:cs typeface="Poppins"/>
                <a:sym typeface="Poppins"/>
              </a:rPr>
              <a:t>: Consistent ratings across different tiers. Weakly correlated</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6B1124">
                <a:alpha val="100000"/>
              </a:srgbClr>
            </a:gs>
            <a:gs pos="50000">
              <a:srgbClr val="000000">
                <a:alpha val="100000"/>
              </a:srgbClr>
            </a:gs>
            <a:gs pos="100000">
              <a:srgbClr val="6B1124">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8031436" y="2883615"/>
            <a:ext cx="9227864" cy="4519770"/>
          </a:xfrm>
          <a:custGeom>
            <a:avLst/>
            <a:gdLst/>
            <a:ahLst/>
            <a:cxnLst/>
            <a:rect r="r" b="b" t="t" l="l"/>
            <a:pathLst>
              <a:path h="4519770" w="9227864">
                <a:moveTo>
                  <a:pt x="0" y="0"/>
                </a:moveTo>
                <a:lnTo>
                  <a:pt x="9227864" y="0"/>
                </a:lnTo>
                <a:lnTo>
                  <a:pt x="9227864" y="4519770"/>
                </a:lnTo>
                <a:lnTo>
                  <a:pt x="0" y="4519770"/>
                </a:lnTo>
                <a:lnTo>
                  <a:pt x="0" y="0"/>
                </a:lnTo>
                <a:close/>
              </a:path>
            </a:pathLst>
          </a:custGeom>
          <a:blipFill>
            <a:blip r:embed="rId3"/>
            <a:stretch>
              <a:fillRect l="0" t="0" r="0" b="0"/>
            </a:stretch>
          </a:blipFill>
        </p:spPr>
      </p:sp>
      <p:sp>
        <p:nvSpPr>
          <p:cNvPr name="TextBox 3" id="3"/>
          <p:cNvSpPr txBox="true"/>
          <p:nvPr/>
        </p:nvSpPr>
        <p:spPr>
          <a:xfrm rot="0">
            <a:off x="0" y="189105"/>
            <a:ext cx="18288000" cy="1222375"/>
          </a:xfrm>
          <a:prstGeom prst="rect">
            <a:avLst/>
          </a:prstGeom>
        </p:spPr>
        <p:txBody>
          <a:bodyPr anchor="t" rtlCol="false" tIns="0" lIns="0" bIns="0" rIns="0">
            <a:spAutoFit/>
          </a:bodyPr>
          <a:lstStyle/>
          <a:p>
            <a:pPr algn="ctr">
              <a:lnSpc>
                <a:spcPts val="9799"/>
              </a:lnSpc>
            </a:pPr>
            <a:r>
              <a:rPr lang="en-US" sz="6999" b="true">
                <a:solidFill>
                  <a:srgbClr val="FDFEFD"/>
                </a:solidFill>
                <a:latin typeface="Times New Roman Bold"/>
                <a:ea typeface="Times New Roman Bold"/>
                <a:cs typeface="Times New Roman Bold"/>
                <a:sym typeface="Times New Roman Bold"/>
              </a:rPr>
              <a:t>Finding II: </a:t>
            </a:r>
            <a:r>
              <a:rPr lang="en-US" sz="6999">
                <a:solidFill>
                  <a:srgbClr val="FDFEFD"/>
                </a:solidFill>
                <a:latin typeface="Times New Roman"/>
                <a:ea typeface="Times New Roman"/>
                <a:cs typeface="Times New Roman"/>
                <a:sym typeface="Times New Roman"/>
              </a:rPr>
              <a:t>The Popularization of Green Beauty</a:t>
            </a:r>
          </a:p>
        </p:txBody>
      </p:sp>
      <p:sp>
        <p:nvSpPr>
          <p:cNvPr name="TextBox 4" id="4"/>
          <p:cNvSpPr txBox="true"/>
          <p:nvPr/>
        </p:nvSpPr>
        <p:spPr>
          <a:xfrm rot="0">
            <a:off x="391370" y="3910965"/>
            <a:ext cx="5621029" cy="651510"/>
          </a:xfrm>
          <a:prstGeom prst="rect">
            <a:avLst/>
          </a:prstGeom>
        </p:spPr>
        <p:txBody>
          <a:bodyPr anchor="t" rtlCol="false" tIns="0" lIns="0" bIns="0" rIns="0">
            <a:spAutoFit/>
          </a:bodyPr>
          <a:lstStyle/>
          <a:p>
            <a:pPr algn="ctr">
              <a:lnSpc>
                <a:spcPts val="5040"/>
              </a:lnSpc>
            </a:pPr>
            <a:r>
              <a:rPr lang="en-US" sz="3600">
                <a:solidFill>
                  <a:srgbClr val="FFFFFF"/>
                </a:solidFill>
                <a:latin typeface="Poppins"/>
                <a:ea typeface="Poppins"/>
                <a:cs typeface="Poppins"/>
                <a:sym typeface="Poppins"/>
              </a:rPr>
              <a:t>INCONSISTENT PREMIUM</a:t>
            </a:r>
          </a:p>
        </p:txBody>
      </p:sp>
      <p:sp>
        <p:nvSpPr>
          <p:cNvPr name="TextBox 5" id="5"/>
          <p:cNvSpPr txBox="true"/>
          <p:nvPr/>
        </p:nvSpPr>
        <p:spPr>
          <a:xfrm rot="0">
            <a:off x="273959" y="4765357"/>
            <a:ext cx="7354889" cy="651510"/>
          </a:xfrm>
          <a:prstGeom prst="rect">
            <a:avLst/>
          </a:prstGeom>
        </p:spPr>
        <p:txBody>
          <a:bodyPr anchor="t" rtlCol="false" tIns="0" lIns="0" bIns="0" rIns="0">
            <a:spAutoFit/>
          </a:bodyPr>
          <a:lstStyle/>
          <a:p>
            <a:pPr algn="ctr">
              <a:lnSpc>
                <a:spcPts val="5040"/>
              </a:lnSpc>
            </a:pPr>
            <a:r>
              <a:rPr lang="en-US" sz="3600">
                <a:solidFill>
                  <a:srgbClr val="FFFFFF"/>
                </a:solidFill>
                <a:latin typeface="Poppins"/>
                <a:ea typeface="Poppins"/>
                <a:cs typeface="Poppins"/>
                <a:sym typeface="Poppins"/>
              </a:rPr>
              <a:t>THE PRICE-DROP PHENOMENON</a:t>
            </a:r>
          </a:p>
        </p:txBody>
      </p:sp>
      <p:sp>
        <p:nvSpPr>
          <p:cNvPr name="TextBox 6" id="6"/>
          <p:cNvSpPr txBox="true"/>
          <p:nvPr/>
        </p:nvSpPr>
        <p:spPr>
          <a:xfrm rot="0">
            <a:off x="550711" y="5616893"/>
            <a:ext cx="4112493" cy="651510"/>
          </a:xfrm>
          <a:prstGeom prst="rect">
            <a:avLst/>
          </a:prstGeom>
        </p:spPr>
        <p:txBody>
          <a:bodyPr anchor="t" rtlCol="false" tIns="0" lIns="0" bIns="0" rIns="0">
            <a:spAutoFit/>
          </a:bodyPr>
          <a:lstStyle/>
          <a:p>
            <a:pPr algn="ctr">
              <a:lnSpc>
                <a:spcPts val="5040"/>
              </a:lnSpc>
            </a:pPr>
            <a:r>
              <a:rPr lang="en-US" sz="3600">
                <a:solidFill>
                  <a:srgbClr val="FFFFFF"/>
                </a:solidFill>
                <a:latin typeface="Poppins"/>
                <a:ea typeface="Poppins"/>
                <a:cs typeface="Poppins"/>
                <a:sym typeface="Poppins"/>
              </a:rPr>
              <a:t>MARKET MATURITY</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6B1124">
                <a:alpha val="100000"/>
              </a:srgbClr>
            </a:gs>
            <a:gs pos="50000">
              <a:srgbClr val="000000">
                <a:alpha val="100000"/>
              </a:srgbClr>
            </a:gs>
            <a:gs pos="100000">
              <a:srgbClr val="6B1124">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1510618" y="0"/>
            <a:ext cx="15266764" cy="10287000"/>
          </a:xfrm>
          <a:custGeom>
            <a:avLst/>
            <a:gdLst/>
            <a:ahLst/>
            <a:cxnLst/>
            <a:rect r="r" b="b" t="t" l="l"/>
            <a:pathLst>
              <a:path h="10287000" w="15266764">
                <a:moveTo>
                  <a:pt x="0" y="0"/>
                </a:moveTo>
                <a:lnTo>
                  <a:pt x="15266764" y="0"/>
                </a:lnTo>
                <a:lnTo>
                  <a:pt x="15266764" y="10287000"/>
                </a:lnTo>
                <a:lnTo>
                  <a:pt x="0" y="10287000"/>
                </a:lnTo>
                <a:lnTo>
                  <a:pt x="0" y="0"/>
                </a:lnTo>
                <a:close/>
              </a:path>
            </a:pathLst>
          </a:custGeom>
          <a:blipFill>
            <a:blip r:embed="rId3"/>
            <a:stretch>
              <a:fillRect l="-1325" t="0" r="0" b="0"/>
            </a:stretch>
          </a:blipFill>
          <a:ln w="38100" cap="sq">
            <a:solidFill>
              <a:srgbClr val="000000"/>
            </a:solidFill>
            <a:prstDash val="sysDot"/>
            <a:miter/>
          </a:ln>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6B1124">
                <a:alpha val="100000"/>
              </a:srgbClr>
            </a:gs>
            <a:gs pos="50000">
              <a:srgbClr val="000000">
                <a:alpha val="100000"/>
              </a:srgbClr>
            </a:gs>
            <a:gs pos="100000">
              <a:srgbClr val="6B1124">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73759" y="2148246"/>
            <a:ext cx="11686078" cy="6769761"/>
          </a:xfrm>
          <a:custGeom>
            <a:avLst/>
            <a:gdLst/>
            <a:ahLst/>
            <a:cxnLst/>
            <a:rect r="r" b="b" t="t" l="l"/>
            <a:pathLst>
              <a:path h="6769761" w="11686078">
                <a:moveTo>
                  <a:pt x="0" y="0"/>
                </a:moveTo>
                <a:lnTo>
                  <a:pt x="11686078" y="0"/>
                </a:lnTo>
                <a:lnTo>
                  <a:pt x="11686078" y="6769761"/>
                </a:lnTo>
                <a:lnTo>
                  <a:pt x="0" y="6769761"/>
                </a:lnTo>
                <a:lnTo>
                  <a:pt x="0" y="0"/>
                </a:lnTo>
                <a:close/>
              </a:path>
            </a:pathLst>
          </a:custGeom>
          <a:blipFill>
            <a:blip r:embed="rId3"/>
            <a:stretch>
              <a:fillRect l="0" t="0" r="-95" b="0"/>
            </a:stretch>
          </a:blipFill>
          <a:ln cap="sq">
            <a:noFill/>
            <a:prstDash val="sysDot"/>
            <a:miter/>
          </a:ln>
        </p:spPr>
      </p:sp>
      <p:sp>
        <p:nvSpPr>
          <p:cNvPr name="TextBox 3" id="3"/>
          <p:cNvSpPr txBox="true"/>
          <p:nvPr/>
        </p:nvSpPr>
        <p:spPr>
          <a:xfrm rot="0">
            <a:off x="-639982" y="74416"/>
            <a:ext cx="18927982" cy="1222375"/>
          </a:xfrm>
          <a:prstGeom prst="rect">
            <a:avLst/>
          </a:prstGeom>
        </p:spPr>
        <p:txBody>
          <a:bodyPr anchor="t" rtlCol="false" tIns="0" lIns="0" bIns="0" rIns="0">
            <a:spAutoFit/>
          </a:bodyPr>
          <a:lstStyle/>
          <a:p>
            <a:pPr algn="ctr">
              <a:lnSpc>
                <a:spcPts val="9799"/>
              </a:lnSpc>
            </a:pPr>
            <a:r>
              <a:rPr lang="en-US" sz="6999" b="true">
                <a:solidFill>
                  <a:srgbClr val="FFFFFF"/>
                </a:solidFill>
                <a:latin typeface="Times New Roman Bold"/>
                <a:ea typeface="Times New Roman Bold"/>
                <a:cs typeface="Times New Roman Bold"/>
                <a:sym typeface="Times New Roman Bold"/>
              </a:rPr>
              <a:t>Insight: </a:t>
            </a:r>
            <a:r>
              <a:rPr lang="en-US" sz="6999">
                <a:solidFill>
                  <a:srgbClr val="FFFFFF"/>
                </a:solidFill>
                <a:latin typeface="Times New Roman"/>
                <a:ea typeface="Times New Roman"/>
                <a:cs typeface="Times New Roman"/>
                <a:sym typeface="Times New Roman"/>
              </a:rPr>
              <a:t>Green Product Brand Portfolios</a:t>
            </a:r>
          </a:p>
        </p:txBody>
      </p:sp>
      <p:sp>
        <p:nvSpPr>
          <p:cNvPr name="TextBox 4" id="4"/>
          <p:cNvSpPr txBox="true"/>
          <p:nvPr/>
        </p:nvSpPr>
        <p:spPr>
          <a:xfrm rot="0">
            <a:off x="11759837" y="3733382"/>
            <a:ext cx="6030964" cy="1218565"/>
          </a:xfrm>
          <a:prstGeom prst="rect">
            <a:avLst/>
          </a:prstGeom>
        </p:spPr>
        <p:txBody>
          <a:bodyPr anchor="t" rtlCol="false" tIns="0" lIns="0" bIns="0" rIns="0">
            <a:spAutoFit/>
          </a:bodyPr>
          <a:lstStyle/>
          <a:p>
            <a:pPr algn="ctr">
              <a:lnSpc>
                <a:spcPts val="4759"/>
              </a:lnSpc>
            </a:pPr>
            <a:r>
              <a:rPr lang="en-US" sz="3399">
                <a:solidFill>
                  <a:srgbClr val="FFFFFF"/>
                </a:solidFill>
                <a:latin typeface="Poppins"/>
                <a:ea typeface="Poppins"/>
                <a:cs typeface="Poppins"/>
                <a:sym typeface="Poppins"/>
              </a:rPr>
              <a:t>100% Green Portfolios are fully viable</a:t>
            </a:r>
          </a:p>
        </p:txBody>
      </p:sp>
      <p:sp>
        <p:nvSpPr>
          <p:cNvPr name="TextBox 5" id="5"/>
          <p:cNvSpPr txBox="true"/>
          <p:nvPr/>
        </p:nvSpPr>
        <p:spPr>
          <a:xfrm rot="0">
            <a:off x="11759837" y="5693495"/>
            <a:ext cx="6528163" cy="1120690"/>
          </a:xfrm>
          <a:prstGeom prst="rect">
            <a:avLst/>
          </a:prstGeom>
        </p:spPr>
        <p:txBody>
          <a:bodyPr anchor="t" rtlCol="false" tIns="0" lIns="0" bIns="0" rIns="0">
            <a:spAutoFit/>
          </a:bodyPr>
          <a:lstStyle/>
          <a:p>
            <a:pPr algn="ctr">
              <a:lnSpc>
                <a:spcPts val="4423"/>
              </a:lnSpc>
            </a:pPr>
            <a:r>
              <a:rPr lang="en-US" sz="3159" b="true">
                <a:solidFill>
                  <a:srgbClr val="FFFFFF"/>
                </a:solidFill>
                <a:latin typeface="Poppins Bold"/>
                <a:ea typeface="Poppins Bold"/>
                <a:cs typeface="Poppins Bold"/>
                <a:sym typeface="Poppins Bold"/>
              </a:rPr>
              <a:t>Brand Equity and Specialized Positioning</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6B1124">
                <a:alpha val="100000"/>
              </a:srgbClr>
            </a:gs>
            <a:gs pos="50000">
              <a:srgbClr val="000000">
                <a:alpha val="100000"/>
              </a:srgbClr>
            </a:gs>
            <a:gs pos="100000">
              <a:srgbClr val="6B1124">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124298" y="2689372"/>
            <a:ext cx="13006808" cy="6260806"/>
          </a:xfrm>
          <a:custGeom>
            <a:avLst/>
            <a:gdLst/>
            <a:ahLst/>
            <a:cxnLst/>
            <a:rect r="r" b="b" t="t" l="l"/>
            <a:pathLst>
              <a:path h="6260806" w="13006808">
                <a:moveTo>
                  <a:pt x="0" y="0"/>
                </a:moveTo>
                <a:lnTo>
                  <a:pt x="13006807" y="0"/>
                </a:lnTo>
                <a:lnTo>
                  <a:pt x="13006807" y="6260806"/>
                </a:lnTo>
                <a:lnTo>
                  <a:pt x="0" y="6260806"/>
                </a:lnTo>
                <a:lnTo>
                  <a:pt x="0" y="0"/>
                </a:lnTo>
                <a:close/>
              </a:path>
            </a:pathLst>
          </a:custGeom>
          <a:blipFill>
            <a:blip r:embed="rId3"/>
            <a:stretch>
              <a:fillRect l="0" t="0" r="0" b="-2576"/>
            </a:stretch>
          </a:blipFill>
        </p:spPr>
      </p:sp>
      <p:sp>
        <p:nvSpPr>
          <p:cNvPr name="TextBox 3" id="3"/>
          <p:cNvSpPr txBox="true"/>
          <p:nvPr/>
        </p:nvSpPr>
        <p:spPr>
          <a:xfrm rot="0">
            <a:off x="0" y="473840"/>
            <a:ext cx="16658895" cy="1222375"/>
          </a:xfrm>
          <a:prstGeom prst="rect">
            <a:avLst/>
          </a:prstGeom>
        </p:spPr>
        <p:txBody>
          <a:bodyPr anchor="t" rtlCol="false" tIns="0" lIns="0" bIns="0" rIns="0">
            <a:spAutoFit/>
          </a:bodyPr>
          <a:lstStyle/>
          <a:p>
            <a:pPr algn="ctr">
              <a:lnSpc>
                <a:spcPts val="9799"/>
              </a:lnSpc>
            </a:pPr>
            <a:r>
              <a:rPr lang="en-US" sz="6999" b="true">
                <a:solidFill>
                  <a:srgbClr val="FFFFFF"/>
                </a:solidFill>
                <a:latin typeface="Times New Roman Bold"/>
                <a:ea typeface="Times New Roman Bold"/>
                <a:cs typeface="Times New Roman Bold"/>
                <a:sym typeface="Times New Roman Bold"/>
              </a:rPr>
              <a:t>Finding III:</a:t>
            </a:r>
            <a:r>
              <a:rPr lang="en-US" sz="6999">
                <a:solidFill>
                  <a:srgbClr val="FFFFFF"/>
                </a:solidFill>
                <a:latin typeface="Times New Roman"/>
                <a:ea typeface="Times New Roman"/>
                <a:cs typeface="Times New Roman"/>
                <a:sym typeface="Times New Roman"/>
              </a:rPr>
              <a:t> The Description Premium</a:t>
            </a:r>
          </a:p>
        </p:txBody>
      </p:sp>
      <p:sp>
        <p:nvSpPr>
          <p:cNvPr name="TextBox 4" id="4"/>
          <p:cNvSpPr txBox="true"/>
          <p:nvPr/>
        </p:nvSpPr>
        <p:spPr>
          <a:xfrm rot="0">
            <a:off x="13223024" y="4241778"/>
            <a:ext cx="5064976" cy="1173480"/>
          </a:xfrm>
          <a:prstGeom prst="rect">
            <a:avLst/>
          </a:prstGeom>
        </p:spPr>
        <p:txBody>
          <a:bodyPr anchor="t" rtlCol="false" tIns="0" lIns="0" bIns="0" rIns="0">
            <a:spAutoFit/>
          </a:bodyPr>
          <a:lstStyle/>
          <a:p>
            <a:pPr algn="ctr">
              <a:lnSpc>
                <a:spcPts val="4620"/>
              </a:lnSpc>
            </a:pPr>
            <a:r>
              <a:rPr lang="en-US" sz="3300">
                <a:solidFill>
                  <a:srgbClr val="FFFFFF"/>
                </a:solidFill>
                <a:latin typeface="Poppins"/>
                <a:ea typeface="Poppins"/>
                <a:cs typeface="Poppins"/>
                <a:sym typeface="Poppins"/>
              </a:rPr>
              <a:t>Short Descriptions Paradox</a:t>
            </a:r>
          </a:p>
        </p:txBody>
      </p:sp>
      <p:sp>
        <p:nvSpPr>
          <p:cNvPr name="TextBox 5" id="5"/>
          <p:cNvSpPr txBox="true"/>
          <p:nvPr/>
        </p:nvSpPr>
        <p:spPr>
          <a:xfrm rot="0">
            <a:off x="13057768" y="5997657"/>
            <a:ext cx="5064976" cy="1173480"/>
          </a:xfrm>
          <a:prstGeom prst="rect">
            <a:avLst/>
          </a:prstGeom>
        </p:spPr>
        <p:txBody>
          <a:bodyPr anchor="t" rtlCol="false" tIns="0" lIns="0" bIns="0" rIns="0">
            <a:spAutoFit/>
          </a:bodyPr>
          <a:lstStyle/>
          <a:p>
            <a:pPr algn="ctr">
              <a:lnSpc>
                <a:spcPts val="4620"/>
              </a:lnSpc>
            </a:pPr>
            <a:r>
              <a:rPr lang="en-US" sz="3300">
                <a:solidFill>
                  <a:srgbClr val="FFFFFF"/>
                </a:solidFill>
                <a:latin typeface="Poppins"/>
                <a:ea typeface="Poppins"/>
                <a:cs typeface="Poppins"/>
                <a:sym typeface="Poppins"/>
              </a:rPr>
              <a:t>The Mid-Market “Romance”</a:t>
            </a:r>
          </a:p>
        </p:txBody>
      </p:sp>
      <p:sp>
        <p:nvSpPr>
          <p:cNvPr name="TextBox 6" id="6"/>
          <p:cNvSpPr txBox="true"/>
          <p:nvPr/>
        </p:nvSpPr>
        <p:spPr>
          <a:xfrm rot="0">
            <a:off x="13057768" y="3021330"/>
            <a:ext cx="5230232" cy="1173480"/>
          </a:xfrm>
          <a:prstGeom prst="rect">
            <a:avLst/>
          </a:prstGeom>
        </p:spPr>
        <p:txBody>
          <a:bodyPr anchor="t" rtlCol="false" tIns="0" lIns="0" bIns="0" rIns="0">
            <a:spAutoFit/>
          </a:bodyPr>
          <a:lstStyle/>
          <a:p>
            <a:pPr algn="ctr">
              <a:lnSpc>
                <a:spcPts val="4620"/>
              </a:lnSpc>
            </a:pPr>
            <a:r>
              <a:rPr lang="en-US" sz="3300" b="true">
                <a:solidFill>
                  <a:srgbClr val="FFFFFF"/>
                </a:solidFill>
                <a:latin typeface="Poppins Bold"/>
                <a:ea typeface="Poppins Bold"/>
                <a:cs typeface="Poppins Bold"/>
                <a:sym typeface="Poppins Bold"/>
              </a:rPr>
              <a:t>Luxury Relies on Brand Confidence</a:t>
            </a:r>
          </a:p>
        </p:txBody>
      </p:sp>
      <p:sp>
        <p:nvSpPr>
          <p:cNvPr name="TextBox 7" id="7"/>
          <p:cNvSpPr txBox="true"/>
          <p:nvPr/>
        </p:nvSpPr>
        <p:spPr>
          <a:xfrm rot="0">
            <a:off x="13223024" y="7288613"/>
            <a:ext cx="5064976" cy="1173480"/>
          </a:xfrm>
          <a:prstGeom prst="rect">
            <a:avLst/>
          </a:prstGeom>
        </p:spPr>
        <p:txBody>
          <a:bodyPr anchor="t" rtlCol="false" tIns="0" lIns="0" bIns="0" rIns="0">
            <a:spAutoFit/>
          </a:bodyPr>
          <a:lstStyle/>
          <a:p>
            <a:pPr algn="ctr">
              <a:lnSpc>
                <a:spcPts val="4620"/>
              </a:lnSpc>
            </a:pPr>
            <a:r>
              <a:rPr lang="en-US" sz="3300" b="true">
                <a:solidFill>
                  <a:srgbClr val="FFFFFF"/>
                </a:solidFill>
                <a:latin typeface="Poppins Bold"/>
                <a:ea typeface="Poppins Bold"/>
                <a:cs typeface="Poppins Bold"/>
                <a:sym typeface="Poppins Bold"/>
              </a:rPr>
              <a:t>Mid-Market relies on Copy Complexity</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6B1124">
                <a:alpha val="100000"/>
              </a:srgbClr>
            </a:gs>
            <a:gs pos="50000">
              <a:srgbClr val="000000">
                <a:alpha val="100000"/>
              </a:srgbClr>
            </a:gs>
            <a:gs pos="100000">
              <a:srgbClr val="6B1124">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1194670" y="1694400"/>
            <a:ext cx="5293487" cy="2595184"/>
          </a:xfrm>
          <a:custGeom>
            <a:avLst/>
            <a:gdLst/>
            <a:ahLst/>
            <a:cxnLst/>
            <a:rect r="r" b="b" t="t" l="l"/>
            <a:pathLst>
              <a:path h="2595184" w="5293487">
                <a:moveTo>
                  <a:pt x="0" y="0"/>
                </a:moveTo>
                <a:lnTo>
                  <a:pt x="5293487" y="0"/>
                </a:lnTo>
                <a:lnTo>
                  <a:pt x="5293487" y="2595184"/>
                </a:lnTo>
                <a:lnTo>
                  <a:pt x="0" y="2595184"/>
                </a:lnTo>
                <a:lnTo>
                  <a:pt x="0" y="0"/>
                </a:lnTo>
                <a:close/>
              </a:path>
            </a:pathLst>
          </a:custGeom>
          <a:blipFill>
            <a:blip r:embed="rId3"/>
            <a:stretch>
              <a:fillRect l="0" t="0" r="0" b="0"/>
            </a:stretch>
          </a:blipFill>
        </p:spPr>
      </p:sp>
      <p:sp>
        <p:nvSpPr>
          <p:cNvPr name="Freeform 3" id="3"/>
          <p:cNvSpPr/>
          <p:nvPr/>
        </p:nvSpPr>
        <p:spPr>
          <a:xfrm flipH="false" flipV="false" rot="0">
            <a:off x="1258358" y="4718209"/>
            <a:ext cx="5166112" cy="4185205"/>
          </a:xfrm>
          <a:custGeom>
            <a:avLst/>
            <a:gdLst/>
            <a:ahLst/>
            <a:cxnLst/>
            <a:rect r="r" b="b" t="t" l="l"/>
            <a:pathLst>
              <a:path h="4185205" w="5166112">
                <a:moveTo>
                  <a:pt x="0" y="0"/>
                </a:moveTo>
                <a:lnTo>
                  <a:pt x="5166112" y="0"/>
                </a:lnTo>
                <a:lnTo>
                  <a:pt x="5166112" y="4185205"/>
                </a:lnTo>
                <a:lnTo>
                  <a:pt x="0" y="4185205"/>
                </a:lnTo>
                <a:lnTo>
                  <a:pt x="0" y="0"/>
                </a:lnTo>
                <a:close/>
              </a:path>
            </a:pathLst>
          </a:custGeom>
          <a:blipFill>
            <a:blip r:embed="rId4"/>
            <a:stretch>
              <a:fillRect l="0" t="0" r="0" b="0"/>
            </a:stretch>
          </a:blipFill>
        </p:spPr>
      </p:sp>
      <p:sp>
        <p:nvSpPr>
          <p:cNvPr name="TextBox 4" id="4"/>
          <p:cNvSpPr txBox="true"/>
          <p:nvPr/>
        </p:nvSpPr>
        <p:spPr>
          <a:xfrm rot="0">
            <a:off x="-1220183" y="39622"/>
            <a:ext cx="20728366" cy="1222375"/>
          </a:xfrm>
          <a:prstGeom prst="rect">
            <a:avLst/>
          </a:prstGeom>
        </p:spPr>
        <p:txBody>
          <a:bodyPr anchor="t" rtlCol="false" tIns="0" lIns="0" bIns="0" rIns="0">
            <a:spAutoFit/>
          </a:bodyPr>
          <a:lstStyle/>
          <a:p>
            <a:pPr algn="ctr">
              <a:lnSpc>
                <a:spcPts val="9799"/>
              </a:lnSpc>
            </a:pPr>
            <a:r>
              <a:rPr lang="en-US" sz="6999" b="true">
                <a:solidFill>
                  <a:srgbClr val="FFFFFF"/>
                </a:solidFill>
                <a:latin typeface="Times New Roman Bold"/>
                <a:ea typeface="Times New Roman Bold"/>
                <a:cs typeface="Times New Roman Bold"/>
                <a:sym typeface="Times New Roman Bold"/>
              </a:rPr>
              <a:t>Model I:</a:t>
            </a:r>
            <a:r>
              <a:rPr lang="en-US" sz="6999">
                <a:solidFill>
                  <a:srgbClr val="FFFFFF"/>
                </a:solidFill>
                <a:latin typeface="Times New Roman"/>
                <a:ea typeface="Times New Roman"/>
                <a:cs typeface="Times New Roman"/>
                <a:sym typeface="Times New Roman"/>
              </a:rPr>
              <a:t> Recommended Products</a:t>
            </a:r>
          </a:p>
        </p:txBody>
      </p:sp>
      <p:sp>
        <p:nvSpPr>
          <p:cNvPr name="TextBox 5" id="5"/>
          <p:cNvSpPr txBox="true"/>
          <p:nvPr/>
        </p:nvSpPr>
        <p:spPr>
          <a:xfrm rot="0">
            <a:off x="7733531" y="1825418"/>
            <a:ext cx="9525769" cy="7432882"/>
          </a:xfrm>
          <a:prstGeom prst="rect">
            <a:avLst/>
          </a:prstGeom>
        </p:spPr>
        <p:txBody>
          <a:bodyPr anchor="t" rtlCol="false" tIns="0" lIns="0" bIns="0" rIns="0">
            <a:spAutoFit/>
          </a:bodyPr>
          <a:lstStyle/>
          <a:p>
            <a:pPr algn="l" marL="699916" indent="-349958" lvl="1">
              <a:lnSpc>
                <a:spcPts val="4538"/>
              </a:lnSpc>
              <a:buFont typeface="Arial"/>
              <a:buChar char="•"/>
            </a:pPr>
            <a:r>
              <a:rPr lang="en-US" sz="3241">
                <a:solidFill>
                  <a:srgbClr val="FDFEFD"/>
                </a:solidFill>
                <a:latin typeface="Poppins"/>
                <a:ea typeface="Poppins"/>
                <a:cs typeface="Poppins"/>
                <a:sym typeface="Poppins"/>
              </a:rPr>
              <a:t>PRICE-QUALITY MYTH EVIDENCE:</a:t>
            </a:r>
            <a:r>
              <a:rPr lang="en-US" sz="3241">
                <a:solidFill>
                  <a:srgbClr val="FDFEFD"/>
                </a:solidFill>
                <a:latin typeface="Poppins"/>
                <a:ea typeface="Poppins"/>
                <a:cs typeface="Poppins"/>
                <a:sym typeface="Poppins"/>
              </a:rPr>
              <a:t> </a:t>
            </a:r>
          </a:p>
          <a:p>
            <a:pPr algn="l" marL="1399832" indent="-466611" lvl="2">
              <a:lnSpc>
                <a:spcPts val="4538"/>
              </a:lnSpc>
              <a:buFont typeface="Arial"/>
              <a:buChar char="⚬"/>
            </a:pPr>
            <a:r>
              <a:rPr lang="en-US" sz="3241">
                <a:solidFill>
                  <a:srgbClr val="FDFEFD"/>
                </a:solidFill>
                <a:latin typeface="Poppins"/>
                <a:ea typeface="Poppins"/>
                <a:cs typeface="Poppins"/>
                <a:sym typeface="Poppins"/>
              </a:rPr>
              <a:t>WEIGHTED AVG: PRECISION (0.68) VS RECALL (0.70). A 2% Difference!</a:t>
            </a:r>
          </a:p>
          <a:p>
            <a:pPr algn="l">
              <a:lnSpc>
                <a:spcPts val="4538"/>
              </a:lnSpc>
            </a:pPr>
          </a:p>
          <a:p>
            <a:pPr algn="l" marL="699916" indent="-349958" lvl="1">
              <a:lnSpc>
                <a:spcPts val="4538"/>
              </a:lnSpc>
              <a:buFont typeface="Arial"/>
              <a:buChar char="•"/>
            </a:pPr>
            <a:r>
              <a:rPr lang="en-US" sz="3241">
                <a:solidFill>
                  <a:srgbClr val="FDFEFD"/>
                </a:solidFill>
                <a:latin typeface="Poppins"/>
                <a:ea typeface="Poppins"/>
                <a:cs typeface="Poppins"/>
                <a:sym typeface="Poppins"/>
              </a:rPr>
              <a:t>MODEL IDENTIFIES ‘LOSERS’ BETTER THAN ‘WINNERS’</a:t>
            </a:r>
          </a:p>
          <a:p>
            <a:pPr algn="l">
              <a:lnSpc>
                <a:spcPts val="4538"/>
              </a:lnSpc>
            </a:pPr>
          </a:p>
          <a:p>
            <a:pPr algn="l" marL="699916" indent="-349958" lvl="1">
              <a:lnSpc>
                <a:spcPts val="4538"/>
              </a:lnSpc>
              <a:buFont typeface="Arial"/>
              <a:buChar char="•"/>
            </a:pPr>
            <a:r>
              <a:rPr lang="en-US" sz="3241">
                <a:solidFill>
                  <a:srgbClr val="FDFEFD"/>
                </a:solidFill>
                <a:latin typeface="Poppins"/>
                <a:ea typeface="Poppins"/>
                <a:cs typeface="Poppins"/>
                <a:sym typeface="Poppins"/>
              </a:rPr>
              <a:t>CAN’T PREDICT CONSUMER SATISFACTION, AS IT IS </a:t>
            </a:r>
            <a:r>
              <a:rPr lang="en-US" sz="3241">
                <a:solidFill>
                  <a:srgbClr val="7ED957"/>
                </a:solidFill>
                <a:latin typeface="Poppins"/>
                <a:ea typeface="Poppins"/>
                <a:cs typeface="Poppins"/>
                <a:sym typeface="Poppins"/>
              </a:rPr>
              <a:t>NON-LINEAR</a:t>
            </a:r>
            <a:r>
              <a:rPr lang="en-US" sz="3241">
                <a:solidFill>
                  <a:srgbClr val="FDFEFD"/>
                </a:solidFill>
                <a:latin typeface="Poppins"/>
                <a:ea typeface="Poppins"/>
                <a:cs typeface="Poppins"/>
                <a:sym typeface="Poppins"/>
              </a:rPr>
              <a:t>, </a:t>
            </a:r>
            <a:r>
              <a:rPr lang="en-US" sz="3241">
                <a:solidFill>
                  <a:srgbClr val="7ED957"/>
                </a:solidFill>
                <a:latin typeface="Poppins"/>
                <a:ea typeface="Poppins"/>
                <a:cs typeface="Poppins"/>
                <a:sym typeface="Poppins"/>
              </a:rPr>
              <a:t>HIGH-DIMENSIONAL</a:t>
            </a:r>
          </a:p>
          <a:p>
            <a:pPr algn="l">
              <a:lnSpc>
                <a:spcPts val="4538"/>
              </a:lnSpc>
            </a:pPr>
          </a:p>
          <a:p>
            <a:pPr algn="l" marL="699916" indent="-349958" lvl="1">
              <a:lnSpc>
                <a:spcPts val="4538"/>
              </a:lnSpc>
              <a:spcBef>
                <a:spcPct val="0"/>
              </a:spcBef>
              <a:buFont typeface="Arial"/>
              <a:buChar char="•"/>
            </a:pPr>
            <a:r>
              <a:rPr lang="en-US" sz="3241">
                <a:solidFill>
                  <a:srgbClr val="FDFEFD"/>
                </a:solidFill>
                <a:latin typeface="Poppins"/>
                <a:ea typeface="Poppins"/>
                <a:cs typeface="Poppins"/>
                <a:sym typeface="Poppins"/>
              </a:rPr>
              <a:t>THIS CONFIRMS THAT PRICE &amp; WORD COUNT ARE WEAK SIGNALS OF WHAT CONSUMERS LIKE.</a:t>
            </a:r>
          </a:p>
        </p:txBody>
      </p:sp>
      <p:grpSp>
        <p:nvGrpSpPr>
          <p:cNvPr name="Group 6" id="6"/>
          <p:cNvGrpSpPr/>
          <p:nvPr/>
        </p:nvGrpSpPr>
        <p:grpSpPr>
          <a:xfrm rot="0">
            <a:off x="1904043" y="6547038"/>
            <a:ext cx="1757362" cy="1597220"/>
            <a:chOff x="0" y="0"/>
            <a:chExt cx="2343150" cy="2129626"/>
          </a:xfrm>
        </p:grpSpPr>
        <p:sp>
          <p:nvSpPr>
            <p:cNvPr name="Freeform 7" id="7"/>
            <p:cNvSpPr/>
            <p:nvPr/>
          </p:nvSpPr>
          <p:spPr>
            <a:xfrm flipH="false" flipV="false" rot="0">
              <a:off x="45701" y="46973"/>
              <a:ext cx="2252367" cy="2035347"/>
            </a:xfrm>
            <a:custGeom>
              <a:avLst/>
              <a:gdLst/>
              <a:ahLst/>
              <a:cxnLst/>
              <a:rect r="r" b="b" t="t" l="l"/>
              <a:pathLst>
                <a:path h="2035347" w="2252367">
                  <a:moveTo>
                    <a:pt x="970299" y="483949"/>
                  </a:moveTo>
                  <a:cubicBezTo>
                    <a:pt x="521989" y="486324"/>
                    <a:pt x="480079" y="487512"/>
                    <a:pt x="429279" y="497014"/>
                  </a:cubicBezTo>
                  <a:cubicBezTo>
                    <a:pt x="379749" y="506516"/>
                    <a:pt x="327679" y="520769"/>
                    <a:pt x="283229" y="540961"/>
                  </a:cubicBezTo>
                  <a:cubicBezTo>
                    <a:pt x="241319" y="561152"/>
                    <a:pt x="200679" y="584907"/>
                    <a:pt x="168929" y="615788"/>
                  </a:cubicBezTo>
                  <a:cubicBezTo>
                    <a:pt x="135909" y="647858"/>
                    <a:pt x="110509" y="688241"/>
                    <a:pt x="92729" y="731000"/>
                  </a:cubicBezTo>
                  <a:cubicBezTo>
                    <a:pt x="71139" y="778510"/>
                    <a:pt x="59709" y="834333"/>
                    <a:pt x="54629" y="890157"/>
                  </a:cubicBezTo>
                  <a:cubicBezTo>
                    <a:pt x="48279" y="950732"/>
                    <a:pt x="49549" y="1016058"/>
                    <a:pt x="60979" y="1081384"/>
                  </a:cubicBezTo>
                  <a:cubicBezTo>
                    <a:pt x="74949" y="1151461"/>
                    <a:pt x="102889" y="1226289"/>
                    <a:pt x="139719" y="1296366"/>
                  </a:cubicBezTo>
                  <a:cubicBezTo>
                    <a:pt x="179089" y="1371194"/>
                    <a:pt x="234969" y="1446022"/>
                    <a:pt x="295929" y="1514911"/>
                  </a:cubicBezTo>
                  <a:cubicBezTo>
                    <a:pt x="359429" y="1586176"/>
                    <a:pt x="433089" y="1656253"/>
                    <a:pt x="515639" y="1714452"/>
                  </a:cubicBezTo>
                  <a:cubicBezTo>
                    <a:pt x="600729" y="1772652"/>
                    <a:pt x="697249" y="1822537"/>
                    <a:pt x="797579" y="1861733"/>
                  </a:cubicBezTo>
                  <a:cubicBezTo>
                    <a:pt x="904259" y="1902116"/>
                    <a:pt x="1023639" y="1930622"/>
                    <a:pt x="1137939" y="1950813"/>
                  </a:cubicBezTo>
                  <a:cubicBezTo>
                    <a:pt x="1252239" y="1972193"/>
                    <a:pt x="1372889" y="1985258"/>
                    <a:pt x="1483379" y="1987634"/>
                  </a:cubicBezTo>
                  <a:cubicBezTo>
                    <a:pt x="1583709" y="1988821"/>
                    <a:pt x="1682769" y="1985258"/>
                    <a:pt x="1771669" y="1966254"/>
                  </a:cubicBezTo>
                  <a:cubicBezTo>
                    <a:pt x="1851679" y="1948438"/>
                    <a:pt x="1930419" y="1919932"/>
                    <a:pt x="1992649" y="1883112"/>
                  </a:cubicBezTo>
                  <a:cubicBezTo>
                    <a:pt x="2048529" y="1851043"/>
                    <a:pt x="2098059" y="1810660"/>
                    <a:pt x="2132349" y="1764338"/>
                  </a:cubicBezTo>
                  <a:cubicBezTo>
                    <a:pt x="2165369" y="1721579"/>
                    <a:pt x="2189499" y="1672881"/>
                    <a:pt x="2198389" y="1620620"/>
                  </a:cubicBezTo>
                  <a:cubicBezTo>
                    <a:pt x="2208549" y="1563609"/>
                    <a:pt x="2202199" y="1498283"/>
                    <a:pt x="2184419" y="1434145"/>
                  </a:cubicBezTo>
                  <a:cubicBezTo>
                    <a:pt x="2162829" y="1361692"/>
                    <a:pt x="2115839" y="1285676"/>
                    <a:pt x="2067579" y="1209661"/>
                  </a:cubicBezTo>
                  <a:cubicBezTo>
                    <a:pt x="2012969" y="1125331"/>
                    <a:pt x="1940579" y="1038626"/>
                    <a:pt x="1866919" y="953108"/>
                  </a:cubicBezTo>
                  <a:cubicBezTo>
                    <a:pt x="1790719" y="864027"/>
                    <a:pt x="1703089" y="772571"/>
                    <a:pt x="1617999" y="688241"/>
                  </a:cubicBezTo>
                  <a:cubicBezTo>
                    <a:pt x="1534179" y="605099"/>
                    <a:pt x="1446549" y="523144"/>
                    <a:pt x="1362729" y="451880"/>
                  </a:cubicBezTo>
                  <a:cubicBezTo>
                    <a:pt x="1285259" y="386554"/>
                    <a:pt x="1207789" y="324791"/>
                    <a:pt x="1131589" y="272530"/>
                  </a:cubicBezTo>
                  <a:cubicBezTo>
                    <a:pt x="1064279" y="226208"/>
                    <a:pt x="995699" y="183449"/>
                    <a:pt x="930929" y="151380"/>
                  </a:cubicBezTo>
                  <a:cubicBezTo>
                    <a:pt x="873779" y="122874"/>
                    <a:pt x="825519" y="102683"/>
                    <a:pt x="765829" y="86054"/>
                  </a:cubicBezTo>
                  <a:cubicBezTo>
                    <a:pt x="699789" y="67050"/>
                    <a:pt x="598189" y="45671"/>
                    <a:pt x="552469" y="46859"/>
                  </a:cubicBezTo>
                  <a:cubicBezTo>
                    <a:pt x="529609" y="48047"/>
                    <a:pt x="519449" y="52798"/>
                    <a:pt x="502939" y="61112"/>
                  </a:cubicBezTo>
                  <a:cubicBezTo>
                    <a:pt x="481349" y="71801"/>
                    <a:pt x="454679" y="110997"/>
                    <a:pt x="438169" y="110997"/>
                  </a:cubicBezTo>
                  <a:cubicBezTo>
                    <a:pt x="428009" y="112185"/>
                    <a:pt x="414039" y="102683"/>
                    <a:pt x="411499" y="95556"/>
                  </a:cubicBezTo>
                  <a:cubicBezTo>
                    <a:pt x="410229" y="88430"/>
                    <a:pt x="420389" y="68238"/>
                    <a:pt x="429279" y="64675"/>
                  </a:cubicBezTo>
                  <a:cubicBezTo>
                    <a:pt x="435629" y="62300"/>
                    <a:pt x="452139" y="69426"/>
                    <a:pt x="457219" y="75365"/>
                  </a:cubicBezTo>
                  <a:cubicBezTo>
                    <a:pt x="462299" y="80116"/>
                    <a:pt x="462299" y="90805"/>
                    <a:pt x="459759" y="96744"/>
                  </a:cubicBezTo>
                  <a:cubicBezTo>
                    <a:pt x="455949" y="103871"/>
                    <a:pt x="448329" y="110997"/>
                    <a:pt x="440709" y="110997"/>
                  </a:cubicBezTo>
                  <a:cubicBezTo>
                    <a:pt x="433089" y="112185"/>
                    <a:pt x="416579" y="105058"/>
                    <a:pt x="412769" y="97932"/>
                  </a:cubicBezTo>
                  <a:cubicBezTo>
                    <a:pt x="408959" y="90805"/>
                    <a:pt x="412769" y="80116"/>
                    <a:pt x="419119" y="70614"/>
                  </a:cubicBezTo>
                  <a:cubicBezTo>
                    <a:pt x="429279" y="52798"/>
                    <a:pt x="463569" y="27855"/>
                    <a:pt x="487699" y="15977"/>
                  </a:cubicBezTo>
                  <a:cubicBezTo>
                    <a:pt x="509289" y="5288"/>
                    <a:pt x="530879" y="1725"/>
                    <a:pt x="556279" y="537"/>
                  </a:cubicBezTo>
                  <a:cubicBezTo>
                    <a:pt x="585489" y="-1839"/>
                    <a:pt x="617239" y="4100"/>
                    <a:pt x="651529" y="10039"/>
                  </a:cubicBezTo>
                  <a:cubicBezTo>
                    <a:pt x="693439" y="17165"/>
                    <a:pt x="739159" y="26667"/>
                    <a:pt x="784879" y="42108"/>
                  </a:cubicBezTo>
                  <a:cubicBezTo>
                    <a:pt x="839489" y="58736"/>
                    <a:pt x="899179" y="82491"/>
                    <a:pt x="957599" y="110997"/>
                  </a:cubicBezTo>
                  <a:cubicBezTo>
                    <a:pt x="1024909" y="144254"/>
                    <a:pt x="1094759" y="188200"/>
                    <a:pt x="1164609" y="235710"/>
                  </a:cubicBezTo>
                  <a:cubicBezTo>
                    <a:pt x="1242079" y="289159"/>
                    <a:pt x="1319549" y="350921"/>
                    <a:pt x="1398289" y="417435"/>
                  </a:cubicBezTo>
                  <a:cubicBezTo>
                    <a:pt x="1483379" y="491075"/>
                    <a:pt x="1571009" y="573030"/>
                    <a:pt x="1656099" y="656172"/>
                  </a:cubicBezTo>
                  <a:cubicBezTo>
                    <a:pt x="1741189" y="741689"/>
                    <a:pt x="1830089" y="834334"/>
                    <a:pt x="1908829" y="925790"/>
                  </a:cubicBezTo>
                  <a:cubicBezTo>
                    <a:pt x="1982489" y="1012495"/>
                    <a:pt x="2057419" y="1100388"/>
                    <a:pt x="2113299" y="1189469"/>
                  </a:cubicBezTo>
                  <a:cubicBezTo>
                    <a:pt x="2164099" y="1269048"/>
                    <a:pt x="2213629" y="1351003"/>
                    <a:pt x="2233949" y="1430581"/>
                  </a:cubicBezTo>
                  <a:cubicBezTo>
                    <a:pt x="2252999" y="1500658"/>
                    <a:pt x="2258079" y="1573111"/>
                    <a:pt x="2245379" y="1637249"/>
                  </a:cubicBezTo>
                  <a:cubicBezTo>
                    <a:pt x="2233949" y="1695448"/>
                    <a:pt x="2204739" y="1751272"/>
                    <a:pt x="2167909" y="1798782"/>
                  </a:cubicBezTo>
                  <a:cubicBezTo>
                    <a:pt x="2128539" y="1848667"/>
                    <a:pt x="2072659" y="1892614"/>
                    <a:pt x="2011699" y="1927059"/>
                  </a:cubicBezTo>
                  <a:cubicBezTo>
                    <a:pt x="1944389" y="1966254"/>
                    <a:pt x="1860569" y="1994760"/>
                    <a:pt x="1776749" y="2012576"/>
                  </a:cubicBezTo>
                  <a:cubicBezTo>
                    <a:pt x="1684039" y="2032768"/>
                    <a:pt x="1581169" y="2036331"/>
                    <a:pt x="1477029" y="2035143"/>
                  </a:cubicBezTo>
                  <a:cubicBezTo>
                    <a:pt x="1365269" y="2032768"/>
                    <a:pt x="1240809" y="2018515"/>
                    <a:pt x="1125239" y="1997136"/>
                  </a:cubicBezTo>
                  <a:cubicBezTo>
                    <a:pt x="1007129" y="1974568"/>
                    <a:pt x="882669" y="1946063"/>
                    <a:pt x="773449" y="1903304"/>
                  </a:cubicBezTo>
                  <a:cubicBezTo>
                    <a:pt x="669309" y="1861733"/>
                    <a:pt x="567709" y="1809472"/>
                    <a:pt x="480079" y="1748897"/>
                  </a:cubicBezTo>
                  <a:cubicBezTo>
                    <a:pt x="394989" y="1688322"/>
                    <a:pt x="318789" y="1614682"/>
                    <a:pt x="252749" y="1541042"/>
                  </a:cubicBezTo>
                  <a:cubicBezTo>
                    <a:pt x="190519" y="1469777"/>
                    <a:pt x="132099" y="1391386"/>
                    <a:pt x="91459" y="1311807"/>
                  </a:cubicBezTo>
                  <a:cubicBezTo>
                    <a:pt x="53359" y="1238167"/>
                    <a:pt x="25419" y="1158588"/>
                    <a:pt x="11449" y="1083760"/>
                  </a:cubicBezTo>
                  <a:cubicBezTo>
                    <a:pt x="-2521" y="1014871"/>
                    <a:pt x="-2521" y="944794"/>
                    <a:pt x="5099" y="879468"/>
                  </a:cubicBezTo>
                  <a:cubicBezTo>
                    <a:pt x="11449" y="818893"/>
                    <a:pt x="25419" y="758318"/>
                    <a:pt x="49549" y="707245"/>
                  </a:cubicBezTo>
                  <a:cubicBezTo>
                    <a:pt x="71139" y="658547"/>
                    <a:pt x="101619" y="613413"/>
                    <a:pt x="138449" y="577781"/>
                  </a:cubicBezTo>
                  <a:cubicBezTo>
                    <a:pt x="175279" y="543336"/>
                    <a:pt x="220999" y="517206"/>
                    <a:pt x="267989" y="495826"/>
                  </a:cubicBezTo>
                  <a:cubicBezTo>
                    <a:pt x="316249" y="474447"/>
                    <a:pt x="370859" y="460194"/>
                    <a:pt x="424199" y="450692"/>
                  </a:cubicBezTo>
                  <a:cubicBezTo>
                    <a:pt x="476269" y="440002"/>
                    <a:pt x="519449" y="438815"/>
                    <a:pt x="585489" y="436439"/>
                  </a:cubicBezTo>
                  <a:cubicBezTo>
                    <a:pt x="687089" y="431688"/>
                    <a:pt x="929659" y="413872"/>
                    <a:pt x="976649" y="437627"/>
                  </a:cubicBezTo>
                  <a:cubicBezTo>
                    <a:pt x="989349" y="443566"/>
                    <a:pt x="995699" y="455443"/>
                    <a:pt x="995699" y="462569"/>
                  </a:cubicBezTo>
                  <a:cubicBezTo>
                    <a:pt x="994429" y="470884"/>
                    <a:pt x="970299" y="483949"/>
                    <a:pt x="970299" y="483949"/>
                  </a:cubicBezTo>
                </a:path>
              </a:pathLst>
            </a:custGeom>
            <a:solidFill>
              <a:srgbClr val="0571D3"/>
            </a:solidFill>
            <a:ln cap="sq">
              <a:noFill/>
              <a:prstDash val="solid"/>
              <a:miter/>
            </a:ln>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6B1124">
                <a:alpha val="100000"/>
              </a:srgbClr>
            </a:gs>
            <a:gs pos="50000">
              <a:srgbClr val="000000">
                <a:alpha val="100000"/>
              </a:srgbClr>
            </a:gs>
            <a:gs pos="100000">
              <a:srgbClr val="6B1124">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9229692" y="5199635"/>
            <a:ext cx="8058000" cy="4381537"/>
          </a:xfrm>
          <a:custGeom>
            <a:avLst/>
            <a:gdLst/>
            <a:ahLst/>
            <a:cxnLst/>
            <a:rect r="r" b="b" t="t" l="l"/>
            <a:pathLst>
              <a:path h="4381537" w="8058000">
                <a:moveTo>
                  <a:pt x="0" y="0"/>
                </a:moveTo>
                <a:lnTo>
                  <a:pt x="8058000" y="0"/>
                </a:lnTo>
                <a:lnTo>
                  <a:pt x="8058000" y="4381538"/>
                </a:lnTo>
                <a:lnTo>
                  <a:pt x="0" y="4381538"/>
                </a:lnTo>
                <a:lnTo>
                  <a:pt x="0" y="0"/>
                </a:lnTo>
                <a:close/>
              </a:path>
            </a:pathLst>
          </a:custGeom>
          <a:blipFill>
            <a:blip r:embed="rId3"/>
            <a:stretch>
              <a:fillRect l="0" t="0" r="0" b="0"/>
            </a:stretch>
          </a:blipFill>
        </p:spPr>
      </p:sp>
      <p:sp>
        <p:nvSpPr>
          <p:cNvPr name="Freeform 3" id="3"/>
          <p:cNvSpPr/>
          <p:nvPr/>
        </p:nvSpPr>
        <p:spPr>
          <a:xfrm flipH="false" flipV="false" rot="0">
            <a:off x="9413862" y="1903811"/>
            <a:ext cx="7689661" cy="3067224"/>
          </a:xfrm>
          <a:custGeom>
            <a:avLst/>
            <a:gdLst/>
            <a:ahLst/>
            <a:cxnLst/>
            <a:rect r="r" b="b" t="t" l="l"/>
            <a:pathLst>
              <a:path h="3067224" w="7689661">
                <a:moveTo>
                  <a:pt x="0" y="0"/>
                </a:moveTo>
                <a:lnTo>
                  <a:pt x="7689661" y="0"/>
                </a:lnTo>
                <a:lnTo>
                  <a:pt x="7689661" y="3067224"/>
                </a:lnTo>
                <a:lnTo>
                  <a:pt x="0" y="3067224"/>
                </a:lnTo>
                <a:lnTo>
                  <a:pt x="0" y="0"/>
                </a:lnTo>
                <a:close/>
              </a:path>
            </a:pathLst>
          </a:custGeom>
          <a:blipFill>
            <a:blip r:embed="rId4"/>
            <a:stretch>
              <a:fillRect l="0" t="0" r="0" b="0"/>
            </a:stretch>
          </a:blipFill>
        </p:spPr>
      </p:sp>
      <p:sp>
        <p:nvSpPr>
          <p:cNvPr name="TextBox 4" id="4"/>
          <p:cNvSpPr txBox="true"/>
          <p:nvPr/>
        </p:nvSpPr>
        <p:spPr>
          <a:xfrm rot="0">
            <a:off x="194460" y="32248"/>
            <a:ext cx="17691541" cy="1222375"/>
          </a:xfrm>
          <a:prstGeom prst="rect">
            <a:avLst/>
          </a:prstGeom>
        </p:spPr>
        <p:txBody>
          <a:bodyPr anchor="t" rtlCol="false" tIns="0" lIns="0" bIns="0" rIns="0">
            <a:spAutoFit/>
          </a:bodyPr>
          <a:lstStyle/>
          <a:p>
            <a:pPr algn="ctr">
              <a:lnSpc>
                <a:spcPts val="9799"/>
              </a:lnSpc>
            </a:pPr>
            <a:r>
              <a:rPr lang="en-US" sz="6999" b="true">
                <a:solidFill>
                  <a:srgbClr val="FFFFFF"/>
                </a:solidFill>
                <a:latin typeface="Times New Roman Bold"/>
                <a:ea typeface="Times New Roman Bold"/>
                <a:cs typeface="Times New Roman Bold"/>
                <a:sym typeface="Times New Roman Bold"/>
              </a:rPr>
              <a:t>Models II &amp; III:</a:t>
            </a:r>
            <a:r>
              <a:rPr lang="en-US" sz="6999">
                <a:solidFill>
                  <a:srgbClr val="FFFFFF"/>
                </a:solidFill>
                <a:latin typeface="Times New Roman"/>
                <a:ea typeface="Times New Roman"/>
                <a:cs typeface="Times New Roman"/>
                <a:sym typeface="Times New Roman"/>
              </a:rPr>
              <a:t> Predicting Price</a:t>
            </a:r>
          </a:p>
        </p:txBody>
      </p:sp>
      <p:sp>
        <p:nvSpPr>
          <p:cNvPr name="TextBox 5" id="5"/>
          <p:cNvSpPr txBox="true"/>
          <p:nvPr/>
        </p:nvSpPr>
        <p:spPr>
          <a:xfrm rot="0">
            <a:off x="414974" y="2499310"/>
            <a:ext cx="7978646" cy="2986405"/>
          </a:xfrm>
          <a:prstGeom prst="rect">
            <a:avLst/>
          </a:prstGeom>
        </p:spPr>
        <p:txBody>
          <a:bodyPr anchor="t" rtlCol="false" tIns="0" lIns="0" bIns="0" rIns="0">
            <a:spAutoFit/>
          </a:bodyPr>
          <a:lstStyle/>
          <a:p>
            <a:pPr algn="l" marL="604521" indent="-302261" lvl="1">
              <a:lnSpc>
                <a:spcPts val="3920"/>
              </a:lnSpc>
              <a:buFont typeface="Arial"/>
              <a:buChar char="•"/>
            </a:pPr>
            <a:r>
              <a:rPr lang="en-US" sz="2800">
                <a:solidFill>
                  <a:srgbClr val="FFFFFF"/>
                </a:solidFill>
                <a:latin typeface="Poppins"/>
                <a:ea typeface="Poppins"/>
                <a:cs typeface="Poppins"/>
                <a:sym typeface="Poppins"/>
              </a:rPr>
              <a:t>OUR INTIAL R</a:t>
            </a:r>
            <a:r>
              <a:rPr lang="en-US" sz="2800">
                <a:solidFill>
                  <a:srgbClr val="FFFFFF"/>
                </a:solidFill>
                <a:latin typeface="Poppins"/>
                <a:ea typeface="Poppins"/>
                <a:cs typeface="Poppins"/>
                <a:sym typeface="Poppins"/>
              </a:rPr>
              <a:t>2</a:t>
            </a:r>
            <a:r>
              <a:rPr lang="en-US" sz="2800">
                <a:solidFill>
                  <a:srgbClr val="FFFFFF"/>
                </a:solidFill>
                <a:latin typeface="Poppins"/>
                <a:ea typeface="Poppins"/>
                <a:cs typeface="Poppins"/>
                <a:sym typeface="Poppins"/>
              </a:rPr>
              <a:t> WAS VERY LOW (USING RATING AND WORD COUNT ), SO WE DECIDED TO ADD </a:t>
            </a:r>
            <a:r>
              <a:rPr lang="en-US" sz="2800">
                <a:solidFill>
                  <a:srgbClr val="7ED957"/>
                </a:solidFill>
                <a:latin typeface="Poppins"/>
                <a:ea typeface="Poppins"/>
                <a:cs typeface="Poppins"/>
                <a:sym typeface="Poppins"/>
              </a:rPr>
              <a:t>BRAND AVERAGE PRICE </a:t>
            </a:r>
            <a:r>
              <a:rPr lang="en-US" sz="2800">
                <a:solidFill>
                  <a:srgbClr val="FFFFFF"/>
                </a:solidFill>
                <a:latin typeface="Poppins"/>
                <a:ea typeface="Poppins"/>
                <a:cs typeface="Poppins"/>
                <a:sym typeface="Poppins"/>
              </a:rPr>
              <a:t>AND </a:t>
            </a:r>
            <a:r>
              <a:rPr lang="en-US" sz="2800">
                <a:solidFill>
                  <a:srgbClr val="7ED957"/>
                </a:solidFill>
                <a:latin typeface="Poppins"/>
                <a:ea typeface="Poppins"/>
                <a:cs typeface="Poppins"/>
                <a:sym typeface="Poppins"/>
              </a:rPr>
              <a:t>BRAND PRODUCT </a:t>
            </a:r>
            <a:r>
              <a:rPr lang="en-US" sz="2800">
                <a:solidFill>
                  <a:srgbClr val="FFFFFF"/>
                </a:solidFill>
                <a:latin typeface="Poppins"/>
                <a:ea typeface="Poppins"/>
                <a:cs typeface="Poppins"/>
                <a:sym typeface="Poppins"/>
              </a:rPr>
              <a:t>COUNT AS PREDICTORS.</a:t>
            </a:r>
          </a:p>
          <a:p>
            <a:pPr algn="l">
              <a:lnSpc>
                <a:spcPts val="3920"/>
              </a:lnSpc>
              <a:spcBef>
                <a:spcPct val="0"/>
              </a:spcBef>
            </a:pPr>
          </a:p>
        </p:txBody>
      </p:sp>
      <p:sp>
        <p:nvSpPr>
          <p:cNvPr name="TextBox 6" id="6"/>
          <p:cNvSpPr txBox="true"/>
          <p:nvPr/>
        </p:nvSpPr>
        <p:spPr>
          <a:xfrm rot="0">
            <a:off x="272756" y="5784427"/>
            <a:ext cx="8591358" cy="2622550"/>
          </a:xfrm>
          <a:prstGeom prst="rect">
            <a:avLst/>
          </a:prstGeom>
        </p:spPr>
        <p:txBody>
          <a:bodyPr anchor="t" rtlCol="false" tIns="0" lIns="0" bIns="0" rIns="0">
            <a:spAutoFit/>
          </a:bodyPr>
          <a:lstStyle/>
          <a:p>
            <a:pPr algn="l" marL="539753" indent="-269876" lvl="1">
              <a:lnSpc>
                <a:spcPts val="3500"/>
              </a:lnSpc>
              <a:buFont typeface="Arial"/>
              <a:buChar char="•"/>
            </a:pPr>
            <a:r>
              <a:rPr lang="en-US" sz="2500">
                <a:solidFill>
                  <a:srgbClr val="FFFFFF"/>
                </a:solidFill>
                <a:latin typeface="Canva Sans"/>
                <a:ea typeface="Canva Sans"/>
                <a:cs typeface="Canva Sans"/>
                <a:sym typeface="Canva Sans"/>
              </a:rPr>
              <a:t>WE FOUND THAT</a:t>
            </a:r>
            <a:r>
              <a:rPr lang="en-US" sz="2500">
                <a:solidFill>
                  <a:srgbClr val="7ED957"/>
                </a:solidFill>
                <a:latin typeface="Canva Sans"/>
                <a:ea typeface="Canva Sans"/>
                <a:cs typeface="Canva Sans"/>
                <a:sym typeface="Canva Sans"/>
              </a:rPr>
              <a:t> BRAND POSITIONING</a:t>
            </a:r>
            <a:r>
              <a:rPr lang="en-US" sz="2500">
                <a:solidFill>
                  <a:srgbClr val="FFFFFF"/>
                </a:solidFill>
                <a:latin typeface="Canva Sans"/>
                <a:ea typeface="Canva Sans"/>
                <a:cs typeface="Canva Sans"/>
                <a:sym typeface="Canva Sans"/>
              </a:rPr>
              <a:t> IS THE PRIMARY DRIVER OF PRICE, FAR OUTWEIGHING RATING &amp; DESCRIPTION LENGTH</a:t>
            </a:r>
          </a:p>
          <a:p>
            <a:pPr algn="l" marL="1079505" indent="-359835" lvl="2">
              <a:lnSpc>
                <a:spcPts val="3500"/>
              </a:lnSpc>
              <a:buFont typeface="Arial"/>
              <a:buChar char="⚬"/>
            </a:pPr>
            <a:r>
              <a:rPr lang="en-US" sz="2500">
                <a:solidFill>
                  <a:srgbClr val="FFFFFF"/>
                </a:solidFill>
                <a:latin typeface="Canva Sans"/>
                <a:ea typeface="Canva Sans"/>
                <a:cs typeface="Canva Sans"/>
                <a:sym typeface="Canva Sans"/>
              </a:rPr>
              <a:t>SEVERELY BOOSTED OUR ADJUSTED R</a:t>
            </a:r>
            <a:r>
              <a:rPr lang="en-US" sz="2500">
                <a:solidFill>
                  <a:srgbClr val="FFFFFF"/>
                </a:solidFill>
                <a:latin typeface="Canva Sans"/>
                <a:ea typeface="Canva Sans"/>
                <a:cs typeface="Canva Sans"/>
                <a:sym typeface="Canva Sans"/>
              </a:rPr>
              <a:t>2</a:t>
            </a:r>
            <a:r>
              <a:rPr lang="en-US" sz="2500">
                <a:solidFill>
                  <a:srgbClr val="FFFFFF"/>
                </a:solidFill>
                <a:latin typeface="Canva Sans"/>
                <a:ea typeface="Canva Sans"/>
                <a:cs typeface="Canva Sans"/>
                <a:sym typeface="Canva Sans"/>
              </a:rPr>
              <a:t>: 66.8% VARIANCE EXPLAINED</a:t>
            </a:r>
          </a:p>
          <a:p>
            <a:pPr algn="ctr">
              <a:lnSpc>
                <a:spcPts val="3500"/>
              </a:lnSpc>
            </a:pPr>
          </a:p>
        </p:txBody>
      </p:sp>
      <p:sp>
        <p:nvSpPr>
          <p:cNvPr name="TextBox 7" id="7"/>
          <p:cNvSpPr txBox="true"/>
          <p:nvPr/>
        </p:nvSpPr>
        <p:spPr>
          <a:xfrm rot="0">
            <a:off x="1568423" y="1168898"/>
            <a:ext cx="15690877" cy="509905"/>
          </a:xfrm>
          <a:prstGeom prst="rect">
            <a:avLst/>
          </a:prstGeom>
        </p:spPr>
        <p:txBody>
          <a:bodyPr anchor="t" rtlCol="false" tIns="0" lIns="0" bIns="0" rIns="0">
            <a:spAutoFit/>
          </a:bodyPr>
          <a:lstStyle/>
          <a:p>
            <a:pPr algn="l">
              <a:lnSpc>
                <a:spcPts val="3920"/>
              </a:lnSpc>
              <a:spcBef>
                <a:spcPct val="0"/>
              </a:spcBef>
            </a:pPr>
            <a:r>
              <a:rPr lang="en-US" sz="2800">
                <a:solidFill>
                  <a:srgbClr val="FFFFFF"/>
                </a:solidFill>
                <a:latin typeface="Poppins"/>
                <a:ea typeface="Poppins"/>
                <a:cs typeface="Poppins"/>
                <a:sym typeface="Poppins"/>
              </a:rPr>
              <a:t>WHAT ACTUALLY EXPLAINS WHY SOME PRODUCTS ARE MORE EXPENSIVE THAN OTHERS?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6B1124">
                <a:alpha val="100000"/>
              </a:srgbClr>
            </a:gs>
            <a:gs pos="50000">
              <a:srgbClr val="000000">
                <a:alpha val="100000"/>
              </a:srgbClr>
            </a:gs>
            <a:gs pos="100000">
              <a:srgbClr val="6B1124">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12914313" y="2895810"/>
            <a:ext cx="4547314" cy="4547314"/>
          </a:xfrm>
          <a:custGeom>
            <a:avLst/>
            <a:gdLst/>
            <a:ahLst/>
            <a:cxnLst/>
            <a:rect r="r" b="b" t="t" l="l"/>
            <a:pathLst>
              <a:path h="4547314" w="4547314">
                <a:moveTo>
                  <a:pt x="0" y="0"/>
                </a:moveTo>
                <a:lnTo>
                  <a:pt x="4547315" y="0"/>
                </a:lnTo>
                <a:lnTo>
                  <a:pt x="4547315" y="4547315"/>
                </a:lnTo>
                <a:lnTo>
                  <a:pt x="0" y="4547315"/>
                </a:lnTo>
                <a:lnTo>
                  <a:pt x="0" y="0"/>
                </a:lnTo>
                <a:close/>
              </a:path>
            </a:pathLst>
          </a:custGeom>
          <a:blipFill>
            <a:blip r:embed="rId3"/>
            <a:stretch>
              <a:fillRect l="0" t="0" r="0" b="0"/>
            </a:stretch>
          </a:blipFill>
        </p:spPr>
      </p:sp>
      <p:sp>
        <p:nvSpPr>
          <p:cNvPr name="TextBox 3" id="3"/>
          <p:cNvSpPr txBox="true"/>
          <p:nvPr/>
        </p:nvSpPr>
        <p:spPr>
          <a:xfrm rot="0">
            <a:off x="826372" y="336550"/>
            <a:ext cx="16635255" cy="1222375"/>
          </a:xfrm>
          <a:prstGeom prst="rect">
            <a:avLst/>
          </a:prstGeom>
        </p:spPr>
        <p:txBody>
          <a:bodyPr anchor="t" rtlCol="false" tIns="0" lIns="0" bIns="0" rIns="0">
            <a:spAutoFit/>
          </a:bodyPr>
          <a:lstStyle/>
          <a:p>
            <a:pPr algn="ctr">
              <a:lnSpc>
                <a:spcPts val="9799"/>
              </a:lnSpc>
            </a:pPr>
            <a:r>
              <a:rPr lang="en-US" sz="6999" b="true">
                <a:solidFill>
                  <a:srgbClr val="FFFFFF"/>
                </a:solidFill>
                <a:latin typeface="Times New Roman Bold"/>
                <a:ea typeface="Times New Roman Bold"/>
                <a:cs typeface="Times New Roman Bold"/>
                <a:sym typeface="Times New Roman Bold"/>
              </a:rPr>
              <a:t>Recap</a:t>
            </a:r>
            <a:r>
              <a:rPr lang="en-US" sz="6999">
                <a:solidFill>
                  <a:srgbClr val="FFFFFF"/>
                </a:solidFill>
                <a:latin typeface="Times New Roman"/>
                <a:ea typeface="Times New Roman"/>
                <a:cs typeface="Times New Roman"/>
                <a:sym typeface="Times New Roman"/>
              </a:rPr>
              <a:t>: Marketing Strategy Insights</a:t>
            </a:r>
          </a:p>
        </p:txBody>
      </p:sp>
      <p:sp>
        <p:nvSpPr>
          <p:cNvPr name="TextBox 4" id="4"/>
          <p:cNvSpPr txBox="true"/>
          <p:nvPr/>
        </p:nvSpPr>
        <p:spPr>
          <a:xfrm rot="0">
            <a:off x="559483" y="5074217"/>
            <a:ext cx="11308326" cy="1102360"/>
          </a:xfrm>
          <a:prstGeom prst="rect">
            <a:avLst/>
          </a:prstGeom>
        </p:spPr>
        <p:txBody>
          <a:bodyPr anchor="t" rtlCol="false" tIns="0" lIns="0" bIns="0" rIns="0">
            <a:spAutoFit/>
          </a:bodyPr>
          <a:lstStyle/>
          <a:p>
            <a:pPr algn="l" marL="669289" indent="-334645" lvl="1">
              <a:lnSpc>
                <a:spcPts val="4339"/>
              </a:lnSpc>
              <a:buFont typeface="Arial"/>
              <a:buChar char="•"/>
            </a:pPr>
            <a:r>
              <a:rPr lang="en-US" sz="3099">
                <a:solidFill>
                  <a:srgbClr val="FFFFFF"/>
                </a:solidFill>
                <a:latin typeface="Poppins"/>
                <a:ea typeface="Poppins"/>
                <a:cs typeface="Poppins"/>
                <a:sym typeface="Poppins"/>
              </a:rPr>
              <a:t>CLEAN BEAUTY IS A </a:t>
            </a:r>
            <a:r>
              <a:rPr lang="en-US" sz="3099">
                <a:solidFill>
                  <a:srgbClr val="7ED957"/>
                </a:solidFill>
                <a:latin typeface="Poppins"/>
                <a:ea typeface="Poppins"/>
                <a:cs typeface="Poppins"/>
                <a:sym typeface="Poppins"/>
              </a:rPr>
              <a:t>BASELINE REQUIREMENT</a:t>
            </a:r>
            <a:r>
              <a:rPr lang="en-US" sz="3099">
                <a:solidFill>
                  <a:srgbClr val="FFFFFF"/>
                </a:solidFill>
                <a:latin typeface="Poppins"/>
                <a:ea typeface="Poppins"/>
                <a:cs typeface="Poppins"/>
                <a:sym typeface="Poppins"/>
              </a:rPr>
              <a:t> FOR NEW COMPANIES &amp; MARKET ENTRY </a:t>
            </a:r>
          </a:p>
        </p:txBody>
      </p:sp>
      <p:sp>
        <p:nvSpPr>
          <p:cNvPr name="TextBox 5" id="5"/>
          <p:cNvSpPr txBox="true"/>
          <p:nvPr/>
        </p:nvSpPr>
        <p:spPr>
          <a:xfrm rot="0">
            <a:off x="559483" y="3016817"/>
            <a:ext cx="11308326" cy="1609725"/>
          </a:xfrm>
          <a:prstGeom prst="rect">
            <a:avLst/>
          </a:prstGeom>
        </p:spPr>
        <p:txBody>
          <a:bodyPr anchor="t" rtlCol="false" tIns="0" lIns="0" bIns="0" rIns="0">
            <a:spAutoFit/>
          </a:bodyPr>
          <a:lstStyle/>
          <a:p>
            <a:pPr algn="l" marL="647700" indent="-323850" lvl="1">
              <a:lnSpc>
                <a:spcPts val="4200"/>
              </a:lnSpc>
              <a:buFont typeface="Arial"/>
              <a:buChar char="•"/>
            </a:pPr>
            <a:r>
              <a:rPr lang="en-US" sz="3000">
                <a:solidFill>
                  <a:srgbClr val="FFFFFF"/>
                </a:solidFill>
                <a:latin typeface="Poppins"/>
                <a:ea typeface="Poppins"/>
                <a:cs typeface="Poppins"/>
                <a:sym typeface="Poppins"/>
              </a:rPr>
              <a:t>LUXURY BRANDS RELY ON BRAND PRESTIGE, NOT VERBOSE COPY</a:t>
            </a:r>
          </a:p>
          <a:p>
            <a:pPr algn="l" marL="1295400" indent="-431800" lvl="2">
              <a:lnSpc>
                <a:spcPts val="4200"/>
              </a:lnSpc>
              <a:buFont typeface="Arial"/>
              <a:buChar char="⚬"/>
            </a:pPr>
            <a:r>
              <a:rPr lang="en-US" sz="3000">
                <a:solidFill>
                  <a:srgbClr val="FFFFFF"/>
                </a:solidFill>
                <a:latin typeface="Poppins"/>
                <a:ea typeface="Poppins"/>
                <a:cs typeface="Poppins"/>
                <a:sym typeface="Poppins"/>
              </a:rPr>
              <a:t>IT IS ALL ABOUT EXISTING BRAND EQUITY </a:t>
            </a:r>
          </a:p>
        </p:txBody>
      </p:sp>
      <p:sp>
        <p:nvSpPr>
          <p:cNvPr name="TextBox 6" id="6"/>
          <p:cNvSpPr txBox="true"/>
          <p:nvPr/>
        </p:nvSpPr>
        <p:spPr>
          <a:xfrm rot="0">
            <a:off x="559483" y="6838437"/>
            <a:ext cx="11308326" cy="1076325"/>
          </a:xfrm>
          <a:prstGeom prst="rect">
            <a:avLst/>
          </a:prstGeom>
        </p:spPr>
        <p:txBody>
          <a:bodyPr anchor="t" rtlCol="false" tIns="0" lIns="0" bIns="0" rIns="0">
            <a:spAutoFit/>
          </a:bodyPr>
          <a:lstStyle/>
          <a:p>
            <a:pPr algn="l" marL="647700" indent="-323850" lvl="1">
              <a:lnSpc>
                <a:spcPts val="4200"/>
              </a:lnSpc>
              <a:buFont typeface="Arial"/>
              <a:buChar char="•"/>
            </a:pPr>
            <a:r>
              <a:rPr lang="en-US" sz="3000">
                <a:solidFill>
                  <a:srgbClr val="FFFFFF"/>
                </a:solidFill>
                <a:latin typeface="Poppins"/>
                <a:ea typeface="Poppins"/>
                <a:cs typeface="Poppins"/>
                <a:sym typeface="Poppins"/>
              </a:rPr>
              <a:t>TOP-RATED BRANDS ARE </a:t>
            </a:r>
            <a:r>
              <a:rPr lang="en-US" sz="3000">
                <a:solidFill>
                  <a:srgbClr val="7ED957"/>
                </a:solidFill>
                <a:latin typeface="Poppins"/>
                <a:ea typeface="Poppins"/>
                <a:cs typeface="Poppins"/>
                <a:sym typeface="Poppins"/>
              </a:rPr>
              <a:t>MID-SIZED</a:t>
            </a:r>
            <a:r>
              <a:rPr lang="en-US" sz="3000">
                <a:solidFill>
                  <a:srgbClr val="FFFFFF"/>
                </a:solidFill>
                <a:latin typeface="Poppins"/>
                <a:ea typeface="Poppins"/>
                <a:cs typeface="Poppins"/>
                <a:sym typeface="Poppins"/>
              </a:rPr>
              <a:t>, CONSUMER REWARD PRODUCT SPECIALIZATION NOT GENERALISTS</a:t>
            </a:r>
          </a:p>
        </p:txBody>
      </p:sp>
      <p:sp>
        <p:nvSpPr>
          <p:cNvPr name="TextBox 7" id="7"/>
          <p:cNvSpPr txBox="true"/>
          <p:nvPr/>
        </p:nvSpPr>
        <p:spPr>
          <a:xfrm rot="0">
            <a:off x="1866080" y="2045267"/>
            <a:ext cx="7889230" cy="514350"/>
          </a:xfrm>
          <a:prstGeom prst="rect">
            <a:avLst/>
          </a:prstGeom>
        </p:spPr>
        <p:txBody>
          <a:bodyPr anchor="t" rtlCol="false" tIns="0" lIns="0" bIns="0" rIns="0">
            <a:spAutoFit/>
          </a:bodyPr>
          <a:lstStyle/>
          <a:p>
            <a:pPr algn="ctr">
              <a:lnSpc>
                <a:spcPts val="4200"/>
              </a:lnSpc>
            </a:pPr>
            <a:r>
              <a:rPr lang="en-US" sz="3000">
                <a:solidFill>
                  <a:srgbClr val="FFFFFF"/>
                </a:solidFill>
                <a:latin typeface="Canva Sans"/>
                <a:ea typeface="Canva Sans"/>
                <a:cs typeface="Canva Sans"/>
                <a:sym typeface="Canva Sans"/>
              </a:rPr>
              <a:t>OUR </a:t>
            </a:r>
            <a:r>
              <a:rPr lang="en-US" sz="3000">
                <a:solidFill>
                  <a:srgbClr val="7ED957"/>
                </a:solidFill>
                <a:latin typeface="Canva Sans"/>
                <a:ea typeface="Canva Sans"/>
                <a:cs typeface="Canva Sans"/>
                <a:sym typeface="Canva Sans"/>
              </a:rPr>
              <a:t>MODELS </a:t>
            </a:r>
            <a:r>
              <a:rPr lang="en-US" sz="3000">
                <a:solidFill>
                  <a:srgbClr val="FFFFFF"/>
                </a:solidFill>
                <a:latin typeface="Canva Sans"/>
                <a:ea typeface="Canva Sans"/>
                <a:cs typeface="Canva Sans"/>
                <a:sym typeface="Canva Sans"/>
              </a:rPr>
              <a:t>CONFIRMED OUR FINDINGS!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6B1124">
                <a:alpha val="100000"/>
              </a:srgbClr>
            </a:gs>
            <a:gs pos="50000">
              <a:srgbClr val="000000">
                <a:alpha val="100000"/>
              </a:srgbClr>
            </a:gs>
            <a:gs pos="100000">
              <a:srgbClr val="6B1124">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1028700" y="1853089"/>
            <a:ext cx="16230600" cy="7405211"/>
          </a:xfrm>
          <a:custGeom>
            <a:avLst/>
            <a:gdLst/>
            <a:ahLst/>
            <a:cxnLst/>
            <a:rect r="r" b="b" t="t" l="l"/>
            <a:pathLst>
              <a:path h="7405211" w="16230600">
                <a:moveTo>
                  <a:pt x="0" y="0"/>
                </a:moveTo>
                <a:lnTo>
                  <a:pt x="16230600" y="0"/>
                </a:lnTo>
                <a:lnTo>
                  <a:pt x="16230600" y="7405211"/>
                </a:lnTo>
                <a:lnTo>
                  <a:pt x="0" y="7405211"/>
                </a:lnTo>
                <a:lnTo>
                  <a:pt x="0" y="0"/>
                </a:lnTo>
                <a:close/>
              </a:path>
            </a:pathLst>
          </a:custGeom>
          <a:blipFill>
            <a:blip r:embed="rId3"/>
            <a:stretch>
              <a:fillRect l="0" t="0" r="0" b="0"/>
            </a:stretch>
          </a:blipFill>
        </p:spPr>
      </p:sp>
      <p:sp>
        <p:nvSpPr>
          <p:cNvPr name="TextBox 3" id="3"/>
          <p:cNvSpPr txBox="true"/>
          <p:nvPr/>
        </p:nvSpPr>
        <p:spPr>
          <a:xfrm rot="0">
            <a:off x="100236" y="316236"/>
            <a:ext cx="18087529" cy="1234428"/>
          </a:xfrm>
          <a:prstGeom prst="rect">
            <a:avLst/>
          </a:prstGeom>
        </p:spPr>
        <p:txBody>
          <a:bodyPr anchor="t" rtlCol="false" tIns="0" lIns="0" bIns="0" rIns="0">
            <a:spAutoFit/>
          </a:bodyPr>
          <a:lstStyle/>
          <a:p>
            <a:pPr algn="ctr">
              <a:lnSpc>
                <a:spcPts val="9660"/>
              </a:lnSpc>
            </a:pPr>
            <a:r>
              <a:rPr lang="en-US" sz="6900">
                <a:solidFill>
                  <a:srgbClr val="FFFFFF"/>
                </a:solidFill>
                <a:latin typeface="Poppins"/>
                <a:ea typeface="Poppins"/>
                <a:cs typeface="Poppins"/>
                <a:sym typeface="Poppins"/>
              </a:rPr>
              <a:t>The Success of Budget-Friendly Brands</a:t>
            </a:r>
          </a:p>
        </p:txBody>
      </p:sp>
    </p:spTree>
  </p:cSld>
  <p:clrMapOvr>
    <a:masterClrMapping/>
  </p:clrMapOvr>
</p:sld>
</file>

<file path=ppt/slides/slide13.xml><?xml version="1.0" encoding="utf-8"?>
<p:sld xmlns:p="http://schemas.openxmlformats.org/presentationml/2006/main" xmlns:a="http://schemas.openxmlformats.org/drawingml/2006/main">
  <p:cSld>
    <p:bg>
      <p:bgPr>
        <a:gradFill rotWithShape="true">
          <a:gsLst>
            <a:gs pos="0">
              <a:srgbClr val="6B1124">
                <a:alpha val="100000"/>
              </a:srgbClr>
            </a:gs>
            <a:gs pos="50000">
              <a:srgbClr val="000000">
                <a:alpha val="100000"/>
              </a:srgbClr>
            </a:gs>
            <a:gs pos="100000">
              <a:srgbClr val="6B1124">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TextBox 2" id="2"/>
          <p:cNvSpPr txBox="true"/>
          <p:nvPr/>
        </p:nvSpPr>
        <p:spPr>
          <a:xfrm rot="0">
            <a:off x="639674" y="149331"/>
            <a:ext cx="5084564" cy="1556564"/>
          </a:xfrm>
          <a:prstGeom prst="rect">
            <a:avLst/>
          </a:prstGeom>
        </p:spPr>
        <p:txBody>
          <a:bodyPr anchor="t" rtlCol="false" tIns="0" lIns="0" bIns="0" rIns="0">
            <a:spAutoFit/>
          </a:bodyPr>
          <a:lstStyle/>
          <a:p>
            <a:pPr algn="ctr">
              <a:lnSpc>
                <a:spcPts val="12380"/>
              </a:lnSpc>
            </a:pPr>
            <a:r>
              <a:rPr lang="en-US" sz="8842" b="true">
                <a:solidFill>
                  <a:srgbClr val="FFFFFF"/>
                </a:solidFill>
                <a:latin typeface="Times New Roman Bold"/>
                <a:ea typeface="Times New Roman Bold"/>
                <a:cs typeface="Times New Roman Bold"/>
                <a:sym typeface="Times New Roman Bold"/>
              </a:rPr>
              <a:t>Next Steps</a:t>
            </a:r>
          </a:p>
        </p:txBody>
      </p:sp>
      <p:sp>
        <p:nvSpPr>
          <p:cNvPr name="TextBox 3" id="3"/>
          <p:cNvSpPr txBox="true"/>
          <p:nvPr/>
        </p:nvSpPr>
        <p:spPr>
          <a:xfrm rot="0">
            <a:off x="638035" y="5241156"/>
            <a:ext cx="17430760" cy="2188210"/>
          </a:xfrm>
          <a:prstGeom prst="rect">
            <a:avLst/>
          </a:prstGeom>
        </p:spPr>
        <p:txBody>
          <a:bodyPr anchor="t" rtlCol="false" tIns="0" lIns="0" bIns="0" rIns="0">
            <a:spAutoFit/>
          </a:bodyPr>
          <a:lstStyle/>
          <a:p>
            <a:pPr algn="ctr">
              <a:lnSpc>
                <a:spcPts val="4339"/>
              </a:lnSpc>
            </a:pPr>
          </a:p>
          <a:p>
            <a:pPr algn="l">
              <a:lnSpc>
                <a:spcPts val="4339"/>
              </a:lnSpc>
            </a:pPr>
            <a:r>
              <a:rPr lang="en-US" sz="3099">
                <a:solidFill>
                  <a:srgbClr val="FFFFFF"/>
                </a:solidFill>
                <a:latin typeface="Poppins"/>
                <a:ea typeface="Poppins"/>
                <a:cs typeface="Poppins"/>
                <a:sym typeface="Poppins"/>
              </a:rPr>
              <a:t>3. </a:t>
            </a:r>
            <a:r>
              <a:rPr lang="en-US" sz="3099">
                <a:solidFill>
                  <a:srgbClr val="7ED957"/>
                </a:solidFill>
                <a:latin typeface="Poppins"/>
                <a:ea typeface="Poppins"/>
                <a:cs typeface="Poppins"/>
                <a:sym typeface="Poppins"/>
              </a:rPr>
              <a:t>REGRESSION MODEL:</a:t>
            </a:r>
            <a:r>
              <a:rPr lang="en-US" sz="3099">
                <a:solidFill>
                  <a:srgbClr val="FFFFFF"/>
                </a:solidFill>
                <a:latin typeface="Poppins"/>
                <a:ea typeface="Poppins"/>
                <a:cs typeface="Poppins"/>
                <a:sym typeface="Poppins"/>
              </a:rPr>
              <a:t> GIVEN THE COMPLEX NATURE OF RATINGS IN THE COSMETIC INDUSTRY, ADDITIONAL FEATURES (SUCH AS INGREDIENTS) AND A MORE COMPLEX MODEL (SUCH AS RANDOM FOREST) COULD BE USED TO TEST OVERLAPPING MARKERS.</a:t>
            </a:r>
          </a:p>
        </p:txBody>
      </p:sp>
      <p:sp>
        <p:nvSpPr>
          <p:cNvPr name="TextBox 4" id="4"/>
          <p:cNvSpPr txBox="true"/>
          <p:nvPr/>
        </p:nvSpPr>
        <p:spPr>
          <a:xfrm rot="0">
            <a:off x="733211" y="3072968"/>
            <a:ext cx="16476911" cy="592455"/>
          </a:xfrm>
          <a:prstGeom prst="rect">
            <a:avLst/>
          </a:prstGeom>
        </p:spPr>
        <p:txBody>
          <a:bodyPr anchor="t" rtlCol="false" tIns="0" lIns="0" bIns="0" rIns="0">
            <a:spAutoFit/>
          </a:bodyPr>
          <a:lstStyle/>
          <a:p>
            <a:pPr algn="ctr">
              <a:lnSpc>
                <a:spcPts val="4619"/>
              </a:lnSpc>
              <a:spcBef>
                <a:spcPct val="0"/>
              </a:spcBef>
            </a:pPr>
            <a:r>
              <a:rPr lang="en-US" sz="3299" spc="-138">
                <a:solidFill>
                  <a:srgbClr val="FFFFFF"/>
                </a:solidFill>
                <a:latin typeface="Poppins"/>
                <a:ea typeface="Poppins"/>
                <a:cs typeface="Poppins"/>
                <a:sym typeface="Poppins"/>
              </a:rPr>
              <a:t>1. DO "SHORT-DESCRIPTION" HIGH-PRICE ITEMS </a:t>
            </a:r>
            <a:r>
              <a:rPr lang="en-US" sz="3299" spc="-138">
                <a:solidFill>
                  <a:srgbClr val="7ED957"/>
                </a:solidFill>
                <a:latin typeface="Poppins"/>
                <a:ea typeface="Poppins"/>
                <a:cs typeface="Poppins"/>
                <a:sym typeface="Poppins"/>
              </a:rPr>
              <a:t>ALL</a:t>
            </a:r>
            <a:r>
              <a:rPr lang="en-US" sz="3299" spc="-138">
                <a:solidFill>
                  <a:srgbClr val="FFFFFF"/>
                </a:solidFill>
                <a:latin typeface="Poppins"/>
                <a:ea typeface="Poppins"/>
                <a:cs typeface="Poppins"/>
                <a:sym typeface="Poppins"/>
              </a:rPr>
              <a:t> BELONG TO SPECIFIC LUXURY BRANDS?</a:t>
            </a:r>
          </a:p>
        </p:txBody>
      </p:sp>
      <p:sp>
        <p:nvSpPr>
          <p:cNvPr name="TextBox 5" id="5"/>
          <p:cNvSpPr txBox="true"/>
          <p:nvPr/>
        </p:nvSpPr>
        <p:spPr>
          <a:xfrm rot="0">
            <a:off x="638035" y="4208011"/>
            <a:ext cx="17649965" cy="1128395"/>
          </a:xfrm>
          <a:prstGeom prst="rect">
            <a:avLst/>
          </a:prstGeom>
        </p:spPr>
        <p:txBody>
          <a:bodyPr anchor="t" rtlCol="false" tIns="0" lIns="0" bIns="0" rIns="0">
            <a:spAutoFit/>
          </a:bodyPr>
          <a:lstStyle/>
          <a:p>
            <a:pPr algn="l">
              <a:lnSpc>
                <a:spcPts val="4479"/>
              </a:lnSpc>
              <a:spcBef>
                <a:spcPct val="0"/>
              </a:spcBef>
            </a:pPr>
            <a:r>
              <a:rPr lang="en-US" sz="3199" spc="-134">
                <a:solidFill>
                  <a:srgbClr val="FFFFFF"/>
                </a:solidFill>
                <a:latin typeface="Poppins"/>
                <a:ea typeface="Poppins"/>
                <a:cs typeface="Poppins"/>
                <a:sym typeface="Poppins"/>
              </a:rPr>
              <a:t>2. </a:t>
            </a:r>
            <a:r>
              <a:rPr lang="en-US" sz="3199" spc="-134">
                <a:solidFill>
                  <a:srgbClr val="7ED957"/>
                </a:solidFill>
                <a:latin typeface="Poppins"/>
                <a:ea typeface="Poppins"/>
                <a:cs typeface="Poppins"/>
                <a:sym typeface="Poppins"/>
              </a:rPr>
              <a:t>SENTIMENT ANALYSIS</a:t>
            </a:r>
            <a:r>
              <a:rPr lang="en-US" sz="3199" spc="-134">
                <a:solidFill>
                  <a:srgbClr val="FFFFFF"/>
                </a:solidFill>
                <a:latin typeface="Poppins"/>
                <a:ea typeface="Poppins"/>
                <a:cs typeface="Poppins"/>
                <a:sym typeface="Poppins"/>
              </a:rPr>
              <a:t> TO LOOK FOR WHAT GREEN PRODUCTS GET MORE "EMOTIONAL/POSITIVE" REVIEWS, NOT JUST RATINGS.</a:t>
            </a:r>
          </a:p>
        </p:txBody>
      </p:sp>
    </p:spTree>
  </p:cSld>
  <p:clrMapOvr>
    <a:masterClrMapping/>
  </p:clrMapOvr>
</p:sld>
</file>

<file path=ppt/slides/slide14.xml><?xml version="1.0" encoding="utf-8"?>
<p:sld xmlns:p="http://schemas.openxmlformats.org/presentationml/2006/main" xmlns:a="http://schemas.openxmlformats.org/drawingml/2006/main">
  <p:cSld>
    <p:bg>
      <p:bgPr>
        <a:gradFill rotWithShape="true">
          <a:gsLst>
            <a:gs pos="0">
              <a:srgbClr val="6B1124">
                <a:alpha val="100000"/>
              </a:srgbClr>
            </a:gs>
            <a:gs pos="50000">
              <a:srgbClr val="000000">
                <a:alpha val="100000"/>
              </a:srgbClr>
            </a:gs>
            <a:gs pos="100000">
              <a:srgbClr val="6B1124">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TextBox 2" id="2"/>
          <p:cNvSpPr txBox="true"/>
          <p:nvPr/>
        </p:nvSpPr>
        <p:spPr>
          <a:xfrm rot="0">
            <a:off x="4919112" y="4614393"/>
            <a:ext cx="8449777" cy="1229665"/>
          </a:xfrm>
          <a:prstGeom prst="rect">
            <a:avLst/>
          </a:prstGeom>
        </p:spPr>
        <p:txBody>
          <a:bodyPr anchor="t" rtlCol="false" tIns="0" lIns="0" bIns="0" rIns="0">
            <a:spAutoFit/>
          </a:bodyPr>
          <a:lstStyle/>
          <a:p>
            <a:pPr algn="ctr">
              <a:lnSpc>
                <a:spcPts val="8770"/>
              </a:lnSpc>
            </a:pPr>
            <a:r>
              <a:rPr lang="en-US" sz="9232" spc="-387">
                <a:solidFill>
                  <a:srgbClr val="F4F4F4"/>
                </a:solidFill>
                <a:latin typeface="Times New Roman"/>
                <a:ea typeface="Times New Roman"/>
                <a:cs typeface="Times New Roman"/>
                <a:sym typeface="Times New Roman"/>
              </a:rPr>
              <a:t>Thank You!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DAHDMiMy6XM</dc:identifier>
  <dcterms:modified xsi:type="dcterms:W3CDTF">2011-08-01T06:04:30Z</dcterms:modified>
  <cp:revision>1</cp:revision>
  <dc:title>Cosmetics Data Analysis Project</dc:title>
</cp:coreProperties>
</file>